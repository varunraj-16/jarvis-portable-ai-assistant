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90" r:id="rId4"/>
    <p:sldId id="259" r:id="rId6"/>
    <p:sldId id="263" r:id="rId7"/>
    <p:sldId id="264" r:id="rId8"/>
    <p:sldId id="265" r:id="rId9"/>
    <p:sldId id="266" r:id="rId10"/>
    <p:sldId id="267" r:id="rId11"/>
    <p:sldId id="268" r:id="rId12"/>
    <p:sldId id="269" r:id="rId13"/>
    <p:sldId id="291" r:id="rId14"/>
    <p:sldId id="292" r:id="rId15"/>
    <p:sldId id="293" r:id="rId16"/>
    <p:sldId id="294" r:id="rId17"/>
    <p:sldId id="299" r:id="rId18"/>
    <p:sldId id="296" r:id="rId19"/>
    <p:sldId id="295" r:id="rId20"/>
    <p:sldId id="270" r:id="rId21"/>
    <p:sldId id="300" r:id="rId22"/>
    <p:sldId id="301" r:id="rId23"/>
    <p:sldId id="303" r:id="rId24"/>
    <p:sldId id="304" r:id="rId25"/>
    <p:sldId id="30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75" d="100"/>
          <a:sy n="75" d="100"/>
        </p:scale>
        <p:origin x="974" y="216"/>
      </p:cViewPr>
      <p:guideLst>
        <p:guide pos="3840"/>
        <p:guide orient="horz" pos="21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customXml" Target="../customXml/item3.xml"/><Relationship Id="rId31" Type="http://schemas.openxmlformats.org/officeDocument/2006/relationships/customXml" Target="../customXml/item2.xml"/><Relationship Id="rId30" Type="http://schemas.openxmlformats.org/officeDocument/2006/relationships/customXml" Target="../customXml/item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832C53-3032-4332-95E6-9F45C65BFB7A}"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96DCF2-A46E-4D47-9C4C-86FF627AE775}"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1048589" name="Google Shape;9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590"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65A7A7B-B71A-428D-833F-0F3507A6DB13}"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CF65307-640F-4AE7-B0BE-50C709AD86C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77EA1F9-1F0F-4C65-8F6E-9729B924AAAC}"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02278E8-5F4B-47D5-A617-8CCDF75D6A33}"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16AAFA52-7A21-407F-8339-40DF182D7460}"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6770335-1C1A-4243-9BDD-9630C417D284}"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41513F-8EBD-4612-96F4-CC3E309609AF}"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E6483A1-31A8-47A2-AB0A-53A7803D5EB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D8810B9-2C7C-4CAF-99E2-617AE20BA33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248F9EB-9D34-4B41-B66C-5FAF50876D2D}"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4489A26-CAA1-4690-8C1F-1641B1B9774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B0C23">
              <a:alpha val="95000"/>
            </a:srgbClr>
          </a:solidFill>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65A7A7B-B71A-428D-833F-0F3507A6DB13}"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CF65307-640F-4AE7-B0BE-50C709AD86C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77EA1F9-1F0F-4C65-8F6E-9729B924AAAC}"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02278E8-5F4B-47D5-A617-8CCDF75D6A33}"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16AAFA52-7A21-407F-8339-40DF182D7460}"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6770335-1C1A-4243-9BDD-9630C417D284}"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41513F-8EBD-4612-96F4-CC3E309609AF}"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E6483A1-31A8-47A2-AB0A-53A7803D5EB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D8810B9-2C7C-4CAF-99E2-617AE20BA33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248F9EB-9D34-4B41-B66C-5FAF50876D2D}"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4489A26-CAA1-4690-8C1F-1641B1B9774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421424"/>
          </a:solidFill>
        </p:spPr>
        <p:txBody>
          <a:bodyPr/>
          <a:lstStyle/>
          <a:p>
            <a:endParaRPr lang="en-IN"/>
          </a:p>
        </p:txBody>
      </p:sp>
      <p:sp>
        <p:nvSpPr>
          <p:cNvPr id="3" name="Shape 1"/>
          <p:cNvSpPr/>
          <p:nvPr/>
        </p:nvSpPr>
        <p:spPr>
          <a:xfrm>
            <a:off x="0" y="0"/>
            <a:ext cx="12192000" cy="6858000"/>
          </a:xfrm>
          <a:prstGeom prst="rect">
            <a:avLst/>
          </a:prstGeom>
          <a:solidFill>
            <a:srgbClr val="5C2438"/>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421424"/>
          </a:solidFill>
        </p:spPr>
        <p:txBody>
          <a:bodyPr/>
          <a:lstStyle/>
          <a:p>
            <a:endParaRPr lang="en-IN"/>
          </a:p>
        </p:txBody>
      </p:sp>
      <p:sp>
        <p:nvSpPr>
          <p:cNvPr id="3" name="Shape 1"/>
          <p:cNvSpPr/>
          <p:nvPr/>
        </p:nvSpPr>
        <p:spPr>
          <a:xfrm>
            <a:off x="0" y="0"/>
            <a:ext cx="12192000" cy="6858000"/>
          </a:xfrm>
          <a:prstGeom prst="rect">
            <a:avLst/>
          </a:prstGeom>
          <a:solidFill>
            <a:srgbClr val="5C2438"/>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5" Type="http://schemas.openxmlformats.org/officeDocument/2006/relationships/theme" Target="../theme/theme2.xml"/><Relationship Id="rId14" Type="http://schemas.openxmlformats.org/officeDocument/2006/relationships/slideLayout" Target="../slideLayouts/slideLayout26.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E93E0A-5177-400C-87C9-C93AF466EC49}"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917615-2DB4-4DAA-9DE3-B2B689A846E0}"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E93E0A-5177-400C-87C9-C93AF466EC49}"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917615-2DB4-4DAA-9DE3-B2B689A846E0}"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3" Type="http://schemas.openxmlformats.org/officeDocument/2006/relationships/slideLayout" Target="../slideLayouts/slideLayout19.xml"/><Relationship Id="rId12" Type="http://schemas.openxmlformats.org/officeDocument/2006/relationships/image" Target="../media/image16.svg"/><Relationship Id="rId11" Type="http://schemas.openxmlformats.org/officeDocument/2006/relationships/image" Target="../media/image15.png"/><Relationship Id="rId10" Type="http://schemas.openxmlformats.org/officeDocument/2006/relationships/image" Target="../media/image14.sv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0" Type="http://schemas.openxmlformats.org/officeDocument/2006/relationships/notesSlide" Target="../notesSlides/notesSlide3.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048584" name="Google Shape;97;p13"/>
          <p:cNvSpPr txBox="1"/>
          <p:nvPr/>
        </p:nvSpPr>
        <p:spPr>
          <a:xfrm>
            <a:off x="1952405" y="2212546"/>
            <a:ext cx="7920687" cy="4000499"/>
          </a:xfrm>
          <a:prstGeom prst="rect">
            <a:avLst/>
          </a:prstGeom>
          <a:noFill/>
          <a:ln>
            <a:noFill/>
          </a:ln>
        </p:spPr>
        <p:txBody>
          <a:bodyPr spcFirstLastPara="1" wrap="square" lIns="68569" tIns="34275" rIns="68569" bIns="34275" anchor="t" anchorCtr="0">
            <a:noAutofit/>
          </a:bodyPr>
          <a:lstStyle/>
          <a:p>
            <a:pPr algn="ctr">
              <a:buClr>
                <a:srgbClr val="000000"/>
              </a:buClr>
              <a:buSzPts val="1800"/>
            </a:pPr>
            <a:r>
              <a:rPr lang="en-US" sz="1500" dirty="0">
                <a:latin typeface="Times New Roman" panose="02020603050405020304"/>
                <a:ea typeface="Times New Roman" panose="02020603050405020304"/>
                <a:cs typeface="Times New Roman" panose="02020603050405020304"/>
                <a:sym typeface="Times New Roman" panose="02020603050405020304"/>
              </a:rPr>
              <a:t>A  </a:t>
            </a:r>
            <a:endParaRPr lang="en-US" sz="1500" dirty="0">
              <a:latin typeface="Times New Roman" panose="02020603050405020304"/>
              <a:ea typeface="Times New Roman" panose="02020603050405020304"/>
              <a:cs typeface="Times New Roman" panose="02020603050405020304"/>
              <a:sym typeface="Times New Roman" panose="02020603050405020304"/>
            </a:endParaRPr>
          </a:p>
          <a:p>
            <a:pPr algn="ctr">
              <a:buClr>
                <a:srgbClr val="000000"/>
              </a:buClr>
              <a:buSzPts val="1800"/>
            </a:pPr>
            <a:endParaRPr lang="en-US" sz="1500" dirty="0">
              <a:latin typeface="Times New Roman" panose="02020603050405020304"/>
              <a:ea typeface="Times New Roman" panose="02020603050405020304"/>
              <a:cs typeface="Times New Roman" panose="02020603050405020304"/>
              <a:sym typeface="Times New Roman" panose="02020603050405020304"/>
            </a:endParaRPr>
          </a:p>
          <a:p>
            <a:pPr algn="ctr">
              <a:buClr>
                <a:srgbClr val="000000"/>
              </a:buClr>
              <a:buSzPts val="1800"/>
            </a:pPr>
            <a:r>
              <a:rPr lang="en-US" sz="1500" dirty="0">
                <a:latin typeface="Times New Roman" panose="02020603050405020304"/>
                <a:ea typeface="Times New Roman" panose="02020603050405020304"/>
                <a:cs typeface="Times New Roman" panose="02020603050405020304"/>
                <a:sym typeface="Times New Roman" panose="02020603050405020304"/>
              </a:rPr>
              <a:t>PROJECT</a:t>
            </a:r>
            <a:endParaRPr lang="en-US" sz="1500" dirty="0">
              <a:latin typeface="Times New Roman" panose="02020603050405020304"/>
              <a:ea typeface="Times New Roman" panose="02020603050405020304"/>
              <a:cs typeface="Times New Roman" panose="02020603050405020304"/>
              <a:sym typeface="Times New Roman" panose="02020603050405020304"/>
            </a:endParaRPr>
          </a:p>
          <a:p>
            <a:pPr algn="ctr">
              <a:buClr>
                <a:srgbClr val="000000"/>
              </a:buClr>
              <a:buSzPts val="1800"/>
            </a:pPr>
            <a:r>
              <a:rPr lang="en-US" sz="1500" dirty="0">
                <a:latin typeface="Times New Roman" panose="02020603050405020304"/>
                <a:ea typeface="Times New Roman" panose="02020603050405020304"/>
                <a:cs typeface="Times New Roman" panose="02020603050405020304"/>
                <a:sym typeface="Times New Roman" panose="02020603050405020304"/>
              </a:rPr>
              <a:t>On</a:t>
            </a:r>
            <a:endParaRPr lang="en-US" sz="1500" dirty="0">
              <a:latin typeface="Times New Roman" panose="02020603050405020304"/>
              <a:ea typeface="Times New Roman" panose="02020603050405020304"/>
              <a:cs typeface="Times New Roman" panose="02020603050405020304"/>
              <a:sym typeface="Times New Roman" panose="02020603050405020304"/>
            </a:endParaRPr>
          </a:p>
          <a:p>
            <a:pPr algn="ctr">
              <a:buClr>
                <a:srgbClr val="000000"/>
              </a:buClr>
              <a:buSzPts val="1800"/>
            </a:pPr>
            <a:r>
              <a:rPr lang="it-IT" b="1" dirty="0">
                <a:latin typeface="Agency FB" panose="020B0503020202020204" pitchFamily="34" charset="0"/>
              </a:rPr>
              <a:t>JARVIS: A Portable AI Assistant</a:t>
            </a:r>
            <a:endParaRPr sz="1600" b="1" dirty="0">
              <a:latin typeface="Agency FB" panose="020B0503020202020204" pitchFamily="34" charset="0"/>
              <a:ea typeface="Times New Roman" panose="02020603050405020304"/>
              <a:cs typeface="Times New Roman" panose="02020603050405020304"/>
              <a:sym typeface="Times New Roman" panose="02020603050405020304"/>
            </a:endParaRPr>
          </a:p>
          <a:p>
            <a:pPr algn="ctr">
              <a:buClr>
                <a:srgbClr val="000000"/>
              </a:buClr>
              <a:buSzPts val="1800"/>
            </a:pPr>
            <a:r>
              <a:rPr lang="en-US" sz="1500" dirty="0">
                <a:latin typeface="Times New Roman" panose="02020603050405020304"/>
                <a:ea typeface="Times New Roman" panose="02020603050405020304"/>
                <a:cs typeface="Times New Roman" panose="02020603050405020304"/>
                <a:sym typeface="Times New Roman" panose="02020603050405020304"/>
              </a:rPr>
              <a:t>COMPUTER SCIENCE AND  ENGINEERING(CSE-C)</a:t>
            </a:r>
            <a:endParaRPr sz="1500" dirty="0">
              <a:latin typeface="Times New Roman" panose="02020603050405020304"/>
              <a:ea typeface="Times New Roman" panose="02020603050405020304"/>
              <a:cs typeface="Times New Roman" panose="02020603050405020304"/>
              <a:sym typeface="Times New Roman" panose="02020603050405020304"/>
            </a:endParaRPr>
          </a:p>
          <a:p>
            <a:pPr algn="ctr">
              <a:lnSpc>
                <a:spcPct val="150000"/>
              </a:lnSpc>
              <a:buClr>
                <a:srgbClr val="000000"/>
              </a:buClr>
              <a:buSzPts val="1800"/>
            </a:pPr>
            <a:r>
              <a:rPr lang="en-US" sz="1500" dirty="0">
                <a:latin typeface="Times New Roman" panose="02020603050405020304"/>
                <a:ea typeface="Times New Roman" panose="02020603050405020304"/>
                <a:cs typeface="Times New Roman" panose="02020603050405020304"/>
                <a:sym typeface="Times New Roman" panose="02020603050405020304"/>
              </a:rPr>
              <a:t>BY</a:t>
            </a:r>
            <a:endParaRPr lang="en-US" sz="1500" dirty="0">
              <a:latin typeface="Times New Roman" panose="02020603050405020304"/>
              <a:ea typeface="Times New Roman" panose="02020603050405020304"/>
              <a:cs typeface="Times New Roman" panose="02020603050405020304"/>
              <a:sym typeface="Times New Roman" panose="02020603050405020304"/>
            </a:endParaRPr>
          </a:p>
          <a:p>
            <a:pPr>
              <a:lnSpc>
                <a:spcPct val="150000"/>
              </a:lnSpc>
              <a:buClr>
                <a:srgbClr val="000000"/>
              </a:buClr>
              <a:buSzPts val="1800"/>
            </a:pPr>
            <a:r>
              <a:rPr lang="en-IN" sz="1500" dirty="0">
                <a:latin typeface="Times New Roman" panose="02020603050405020304"/>
                <a:ea typeface="Times New Roman" panose="02020603050405020304"/>
                <a:cs typeface="Times New Roman" panose="02020603050405020304"/>
                <a:sym typeface="Times New Roman" panose="02020603050405020304"/>
              </a:rPr>
              <a:t>                                   </a:t>
            </a:r>
            <a:r>
              <a:rPr lang="es-ES" sz="1500" b="1" dirty="0">
                <a:latin typeface="Times New Roman" panose="02020603050405020304"/>
                <a:ea typeface="Times New Roman" panose="02020603050405020304"/>
                <a:cs typeface="Times New Roman" panose="02020603050405020304"/>
                <a:sym typeface="Times New Roman" panose="02020603050405020304"/>
              </a:rPr>
              <a:t>V VARUN                                                    22VE1A05J8</a:t>
            </a:r>
            <a:endParaRPr lang="es-ES" sz="1500" b="1" dirty="0">
              <a:latin typeface="Times New Roman" panose="02020603050405020304"/>
              <a:ea typeface="Times New Roman" panose="02020603050405020304"/>
              <a:cs typeface="Times New Roman" panose="02020603050405020304"/>
            </a:endParaRPr>
          </a:p>
          <a:p>
            <a:pPr marL="257175" indent="-257175" algn="ctr"/>
            <a:r>
              <a:rPr lang="es-ES" sz="1600" b="1" dirty="0">
                <a:latin typeface="Times New Roman" panose="02020603050405020304"/>
                <a:cs typeface="Times New Roman" panose="02020603050405020304"/>
              </a:rPr>
              <a:t>B LAVANYA                                           23VE5A0516</a:t>
            </a:r>
            <a:endParaRPr lang="es-ES" sz="1600" b="1" dirty="0">
              <a:latin typeface="Times New Roman" panose="02020603050405020304"/>
              <a:cs typeface="Times New Roman" panose="02020603050405020304"/>
            </a:endParaRPr>
          </a:p>
          <a:p>
            <a:pPr marL="257175" indent="-257175"/>
            <a:r>
              <a:rPr lang="en-US" sz="1500" b="1" dirty="0">
                <a:latin typeface="Times New Roman" panose="02020603050405020304"/>
                <a:ea typeface="Times New Roman" panose="02020603050405020304"/>
                <a:cs typeface="Times New Roman" panose="02020603050405020304"/>
                <a:sym typeface="Times New Roman" panose="02020603050405020304"/>
              </a:rPr>
              <a:t>                                   C UDAY                                                       23VE5A0517</a:t>
            </a:r>
            <a:endParaRPr lang="en-US" sz="1500" b="1" dirty="0">
              <a:latin typeface="Times New Roman" panose="02020603050405020304"/>
              <a:ea typeface="Times New Roman" panose="02020603050405020304"/>
              <a:cs typeface="Times New Roman" panose="02020603050405020304"/>
            </a:endParaRPr>
          </a:p>
          <a:p>
            <a:pPr marL="257175" indent="-257175"/>
            <a:r>
              <a:rPr lang="en-US" sz="1500" b="1" dirty="0">
                <a:latin typeface="Times New Roman" panose="02020603050405020304"/>
                <a:ea typeface="Times New Roman" panose="02020603050405020304"/>
                <a:cs typeface="Times New Roman" panose="02020603050405020304"/>
                <a:sym typeface="Times New Roman" panose="02020603050405020304"/>
              </a:rPr>
              <a:t>                                   N SHILPA                                                    23VE5A0520</a:t>
            </a:r>
            <a:endParaRPr lang="en-US" sz="1500" b="1" dirty="0">
              <a:latin typeface="Times New Roman" panose="02020603050405020304"/>
              <a:ea typeface="Times New Roman" panose="02020603050405020304"/>
              <a:cs typeface="Times New Roman" panose="02020603050405020304"/>
            </a:endParaRPr>
          </a:p>
          <a:p>
            <a:pPr marL="257175" indent="-257175" algn="ctr"/>
            <a:r>
              <a:rPr lang="en-US" sz="1500" b="1" dirty="0">
                <a:latin typeface="Times New Roman" panose="02020603050405020304"/>
                <a:ea typeface="Times New Roman" panose="02020603050405020304"/>
                <a:cs typeface="Times New Roman" panose="02020603050405020304"/>
                <a:sym typeface="Times New Roman" panose="02020603050405020304"/>
              </a:rPr>
              <a:t> </a:t>
            </a:r>
            <a:endParaRPr sz="1500" b="1" dirty="0">
              <a:latin typeface="Times New Roman" panose="02020603050405020304"/>
              <a:ea typeface="Times New Roman" panose="02020603050405020304"/>
              <a:cs typeface="Times New Roman" panose="02020603050405020304"/>
              <a:sym typeface="Times New Roman" panose="02020603050405020304"/>
            </a:endParaRPr>
          </a:p>
          <a:p>
            <a:pPr algn="ctr"/>
            <a:r>
              <a:rPr lang="en-US" sz="1500" b="1" dirty="0">
                <a:latin typeface="Times New Roman" panose="02020603050405020304"/>
                <a:ea typeface="Times New Roman" panose="02020603050405020304"/>
                <a:cs typeface="Times New Roman" panose="02020603050405020304"/>
                <a:sym typeface="Times New Roman" panose="02020603050405020304"/>
              </a:rPr>
              <a:t>ACADEMIC BATCH: (2022-2026)</a:t>
            </a:r>
            <a:endParaRPr sz="1500" dirty="0">
              <a:latin typeface="Libre Franklin"/>
              <a:ea typeface="Libre Franklin"/>
              <a:cs typeface="Libre Franklin"/>
              <a:sym typeface="Libre Franklin"/>
            </a:endParaRPr>
          </a:p>
          <a:p>
            <a:pPr algn="ctr">
              <a:buClr>
                <a:srgbClr val="000000"/>
              </a:buClr>
              <a:buSzPts val="1800"/>
            </a:pPr>
            <a:endParaRPr sz="15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048585" name="Google Shape;98;p13"/>
          <p:cNvSpPr txBox="1"/>
          <p:nvPr/>
        </p:nvSpPr>
        <p:spPr>
          <a:xfrm>
            <a:off x="10301494" y="2054606"/>
            <a:ext cx="366075" cy="420075"/>
          </a:xfrm>
          <a:prstGeom prst="rect">
            <a:avLst/>
          </a:prstGeom>
          <a:solidFill>
            <a:srgbClr val="FFFFFF"/>
          </a:solidFill>
          <a:ln>
            <a:noFill/>
          </a:ln>
        </p:spPr>
        <p:txBody>
          <a:bodyPr spcFirstLastPara="1" wrap="square" lIns="68569" tIns="68569" rIns="68569" bIns="68569" anchor="t" anchorCtr="0">
            <a:noAutofit/>
          </a:bodyPr>
          <a:lstStyle/>
          <a:p>
            <a:pPr>
              <a:buClr>
                <a:srgbClr val="000000"/>
              </a:buClr>
              <a:buSzPts val="1400"/>
            </a:pPr>
            <a:endParaRPr sz="1050">
              <a:solidFill>
                <a:srgbClr val="000000"/>
              </a:solidFill>
              <a:latin typeface="Libre Franklin"/>
              <a:ea typeface="Libre Franklin"/>
              <a:cs typeface="Libre Franklin"/>
              <a:sym typeface="Libre Franklin"/>
            </a:endParaRPr>
          </a:p>
        </p:txBody>
      </p:sp>
      <p:pic>
        <p:nvPicPr>
          <p:cNvPr id="2097152" name="Google Shape;99;p13"/>
          <p:cNvPicPr preferRelativeResize="0"/>
          <p:nvPr/>
        </p:nvPicPr>
        <p:blipFill rotWithShape="1">
          <a:blip r:embed="rId1"/>
          <a:srcRect/>
          <a:stretch>
            <a:fillRect/>
          </a:stretch>
        </p:blipFill>
        <p:spPr>
          <a:xfrm>
            <a:off x="2152650" y="857251"/>
            <a:ext cx="1143000" cy="1035844"/>
          </a:xfrm>
          <a:prstGeom prst="rect">
            <a:avLst/>
          </a:prstGeom>
          <a:noFill/>
          <a:ln>
            <a:noFill/>
          </a:ln>
        </p:spPr>
      </p:pic>
      <p:cxnSp>
        <p:nvCxnSpPr>
          <p:cNvPr id="3145729" name="Google Shape;100;p13"/>
          <p:cNvCxnSpPr/>
          <p:nvPr/>
        </p:nvCxnSpPr>
        <p:spPr>
          <a:xfrm>
            <a:off x="1524000" y="1928589"/>
            <a:ext cx="9144000" cy="34289"/>
          </a:xfrm>
          <a:prstGeom prst="straightConnector1">
            <a:avLst/>
          </a:prstGeom>
          <a:noFill/>
          <a:ln w="19050" cap="flat" cmpd="sng">
            <a:solidFill>
              <a:srgbClr val="3399FF"/>
            </a:solidFill>
            <a:prstDash val="solid"/>
            <a:round/>
            <a:headEnd type="none" w="med" len="med"/>
            <a:tailEnd type="none" w="med" len="med"/>
          </a:ln>
        </p:spPr>
      </p:cxnSp>
      <p:cxnSp>
        <p:nvCxnSpPr>
          <p:cNvPr id="3145730" name="Google Shape;101;p13"/>
          <p:cNvCxnSpPr/>
          <p:nvPr/>
        </p:nvCxnSpPr>
        <p:spPr>
          <a:xfrm>
            <a:off x="1524000" y="2000250"/>
            <a:ext cx="9144000" cy="57150"/>
          </a:xfrm>
          <a:prstGeom prst="straightConnector1">
            <a:avLst/>
          </a:prstGeom>
          <a:noFill/>
          <a:ln w="19050" cap="flat" cmpd="sng">
            <a:solidFill>
              <a:srgbClr val="E36C0A"/>
            </a:solidFill>
            <a:prstDash val="solid"/>
            <a:round/>
            <a:headEnd type="none" w="med" len="med"/>
            <a:tailEnd type="none" w="med" len="med"/>
          </a:ln>
        </p:spPr>
      </p:cxnSp>
      <p:sp>
        <p:nvSpPr>
          <p:cNvPr id="1048586" name="Google Shape;102;p13"/>
          <p:cNvSpPr/>
          <p:nvPr/>
        </p:nvSpPr>
        <p:spPr>
          <a:xfrm>
            <a:off x="1524000" y="857250"/>
            <a:ext cx="9144000" cy="342900"/>
          </a:xfrm>
          <a:prstGeom prst="rect">
            <a:avLst/>
          </a:prstGeom>
          <a:noFill/>
          <a:ln>
            <a:noFill/>
          </a:ln>
        </p:spPr>
        <p:txBody>
          <a:bodyPr spcFirstLastPara="1" wrap="square" lIns="68569" tIns="34275" rIns="68569" bIns="34275" anchor="ctr" anchorCtr="0">
            <a:noAutofit/>
          </a:bodyPr>
          <a:lstStyle/>
          <a:p>
            <a:endParaRPr sz="13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87" name="Google Shape;103;p13"/>
          <p:cNvSpPr/>
          <p:nvPr/>
        </p:nvSpPr>
        <p:spPr>
          <a:xfrm>
            <a:off x="1591678" y="769392"/>
            <a:ext cx="9144000" cy="1258036"/>
          </a:xfrm>
          <a:prstGeom prst="rect">
            <a:avLst/>
          </a:prstGeom>
          <a:noFill/>
          <a:ln>
            <a:noFill/>
          </a:ln>
        </p:spPr>
        <p:txBody>
          <a:bodyPr spcFirstLastPara="1" wrap="square" lIns="68569" tIns="34275" rIns="68569" bIns="34275" anchor="ctr" anchorCtr="0">
            <a:noAutofit/>
          </a:bodyPr>
          <a:lstStyle/>
          <a:p>
            <a:pPr indent="342900" algn="ctr">
              <a:buClr>
                <a:srgbClr val="0070C0"/>
              </a:buClr>
              <a:buSzPts val="1300"/>
            </a:pPr>
            <a:r>
              <a:rPr lang="en-US" sz="975" b="1" dirty="0">
                <a:latin typeface="Arial" panose="020B0604020202020204"/>
                <a:ea typeface="Arial" panose="020B0604020202020204"/>
                <a:cs typeface="Arial" panose="020B0604020202020204"/>
                <a:sym typeface="Arial" panose="020B0604020202020204"/>
              </a:rPr>
              <a:t>                                         </a:t>
            </a:r>
            <a:endParaRPr lang="en-US" sz="975" b="1" dirty="0">
              <a:latin typeface="Arial" panose="020B0604020202020204"/>
              <a:ea typeface="Arial" panose="020B0604020202020204"/>
              <a:cs typeface="Arial" panose="020B0604020202020204"/>
              <a:sym typeface="Arial" panose="020B0604020202020204"/>
            </a:endParaRPr>
          </a:p>
          <a:p>
            <a:pPr indent="342900" algn="ctr">
              <a:buClr>
                <a:srgbClr val="0070C0"/>
              </a:buClr>
              <a:buSzPts val="1300"/>
            </a:pPr>
            <a:r>
              <a:rPr lang="en-US" sz="975" b="1" dirty="0">
                <a:latin typeface="Arial" panose="020B0604020202020204"/>
                <a:ea typeface="Arial" panose="020B0604020202020204"/>
                <a:cs typeface="Arial" panose="020B0604020202020204"/>
                <a:sym typeface="Arial" panose="020B0604020202020204"/>
              </a:rPr>
              <a:t>   </a:t>
            </a:r>
            <a:r>
              <a:rPr lang="en-US" sz="1350" b="1" dirty="0">
                <a:latin typeface="Arial" panose="020B0604020202020204"/>
                <a:ea typeface="Arial" panose="020B0604020202020204"/>
                <a:cs typeface="Arial" panose="020B0604020202020204"/>
                <a:sym typeface="Arial" panose="020B0604020202020204"/>
              </a:rPr>
              <a:t>Sreyas Institute of Engineering and Technology</a:t>
            </a:r>
            <a:endParaRPr sz="1350" dirty="0">
              <a:latin typeface="Arial" panose="020B0604020202020204"/>
              <a:ea typeface="Arial" panose="020B0604020202020204"/>
              <a:cs typeface="Arial" panose="020B0604020202020204"/>
              <a:sym typeface="Arial" panose="020B0604020202020204"/>
            </a:endParaRPr>
          </a:p>
          <a:p>
            <a:pPr indent="342900" algn="ctr">
              <a:buClr>
                <a:srgbClr val="FF0000"/>
              </a:buClr>
              <a:buSzPts val="1800"/>
            </a:pPr>
            <a:r>
              <a:rPr lang="en-US" sz="1350" b="1" i="1" dirty="0">
                <a:latin typeface="Arial" panose="020B0604020202020204"/>
                <a:ea typeface="Arial" panose="020B0604020202020204"/>
                <a:cs typeface="Arial" panose="020B0604020202020204"/>
                <a:sym typeface="Arial" panose="020B0604020202020204"/>
              </a:rPr>
              <a:t> An Autonomous Institution</a:t>
            </a:r>
            <a:endParaRPr sz="1350" dirty="0">
              <a:latin typeface="Arial" panose="020B0604020202020204"/>
              <a:ea typeface="Arial" panose="020B0604020202020204"/>
              <a:cs typeface="Arial" panose="020B0604020202020204"/>
              <a:sym typeface="Arial" panose="020B0604020202020204"/>
            </a:endParaRPr>
          </a:p>
          <a:p>
            <a:pPr indent="342900" algn="ctr">
              <a:buClr>
                <a:schemeClr val="dk1"/>
              </a:buClr>
              <a:buSzPts val="1800"/>
            </a:pPr>
            <a:r>
              <a:rPr lang="en-US" sz="1350" dirty="0">
                <a:latin typeface="Palatino Linotype" panose="02040502050505030304"/>
                <a:ea typeface="Palatino Linotype" panose="02040502050505030304"/>
                <a:cs typeface="Palatino Linotype" panose="02040502050505030304"/>
                <a:sym typeface="Palatino Linotype" panose="02040502050505030304"/>
              </a:rPr>
              <a:t>Approved by AICTE, Affiliated to JNTUH</a:t>
            </a:r>
            <a:endParaRPr sz="1350" dirty="0">
              <a:latin typeface="Arial" panose="020B0604020202020204"/>
              <a:ea typeface="Arial" panose="020B0604020202020204"/>
              <a:cs typeface="Arial" panose="020B0604020202020204"/>
              <a:sym typeface="Arial" panose="020B0604020202020204"/>
            </a:endParaRPr>
          </a:p>
          <a:p>
            <a:pPr indent="342900" algn="ctr">
              <a:buClr>
                <a:schemeClr val="dk1"/>
              </a:buClr>
              <a:buSzPts val="1800"/>
            </a:pPr>
            <a:r>
              <a:rPr lang="en-US" sz="1350" dirty="0">
                <a:latin typeface="Palatino Linotype" panose="02040502050505030304"/>
                <a:ea typeface="Palatino Linotype" panose="02040502050505030304"/>
                <a:cs typeface="Palatino Linotype" panose="02040502050505030304"/>
                <a:sym typeface="Palatino Linotype" panose="02040502050505030304"/>
              </a:rPr>
              <a:t>                     Accredited by NAAC-A Grade, NBA (CSE, ECE &amp; ME) &amp; ISO 9001:2015 Certified</a:t>
            </a:r>
            <a:endParaRPr sz="1350" dirty="0">
              <a:latin typeface="Arial" panose="020B0604020202020204"/>
              <a:ea typeface="Arial" panose="020B0604020202020204"/>
              <a:cs typeface="Arial" panose="020B0604020202020204"/>
              <a:sym typeface="Arial" panose="020B0604020202020204"/>
            </a:endParaRPr>
          </a:p>
          <a:p>
            <a:pPr indent="342900">
              <a:buClr>
                <a:schemeClr val="dk1"/>
              </a:buClr>
              <a:buSzPts val="1800"/>
            </a:pPr>
            <a:endParaRPr sz="1350" dirty="0">
              <a:latin typeface="Arial" panose="020B0604020202020204"/>
              <a:ea typeface="Arial" panose="020B0604020202020204"/>
              <a:cs typeface="Arial" panose="020B0604020202020204"/>
              <a:sym typeface="Arial" panose="020B0604020202020204"/>
            </a:endParaRPr>
          </a:p>
        </p:txBody>
      </p:sp>
      <p:sp>
        <p:nvSpPr>
          <p:cNvPr id="1048588" name="Google Shape;104;p13"/>
          <p:cNvSpPr/>
          <p:nvPr/>
        </p:nvSpPr>
        <p:spPr>
          <a:xfrm>
            <a:off x="1524000" y="1543050"/>
            <a:ext cx="9144000" cy="0"/>
          </a:xfrm>
          <a:prstGeom prst="rect">
            <a:avLst/>
          </a:prstGeom>
          <a:noFill/>
          <a:ln>
            <a:noFill/>
          </a:ln>
        </p:spPr>
        <p:txBody>
          <a:bodyPr spcFirstLastPara="1" wrap="square" lIns="68569" tIns="34275" rIns="68569" bIns="34275" anchor="ctr" anchorCtr="0">
            <a:noAutofit/>
          </a:bodyPr>
          <a:lstStyle/>
          <a:p>
            <a:pPr>
              <a:buClr>
                <a:schemeClr val="dk1"/>
              </a:buClr>
              <a:buSzPts val="1800"/>
            </a:pPr>
            <a:endParaRPr sz="135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87375" y="1570355"/>
            <a:ext cx="11242040" cy="4399915"/>
          </a:xfrm>
          <a:prstGeom prst="rect">
            <a:avLst/>
          </a:prstGeom>
          <a:noFill/>
        </p:spPr>
        <p:txBody>
          <a:bodyPr wrap="square">
            <a:spAutoFit/>
          </a:bodyPr>
          <a:lstStyle/>
          <a:p>
            <a:r>
              <a:rPr lang="en-US" altLang="en-US" sz="2000" dirty="0">
                <a:latin typeface="Times New Roman" panose="02020603050405020304" pitchFamily="18" charset="0"/>
                <a:cs typeface="Times New Roman" panose="02020603050405020304" pitchFamily="18" charset="0"/>
              </a:rPr>
              <a:t>This project presents JARVIS: A Portable AI Assistant, a lightweight voice-controlled system designed to run directly from a USB pen drive across multiple platforms including Windows. The assistant combines both offline and online capabilities, enabling users to perform everyday tasks such as file management, media control, document reading, message replies, and intelligent web-based information retrieval. JARVIS utilizes speech recognition and text-to-speech technologies to enable natural human–computer interaction through voice commands. The system continuously listens for predefined wake words while running silently in the background, ensuring hands-free operation. Its conversational AI model provides real-time responses and task execution without requiring extensive setup on host systems. The portability, platform independence, and autonomous functioning of JARVIS make it an innovative and practical solution for personalized digital assistance, inspired by the concept of Iron Man’s intelligent assistant.</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Keywords— Portable AI Assistant, Voice Recognition, Speech-to-Text, Text-to-Speech, Cross-Platform Application, USB-Based Computing, Conversational AI, Virtual Assistant, Natural Language Processing, Task Automation.</a:t>
            </a:r>
            <a:endParaRPr lang="en-US" altLang="en-US"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251325" y="411811"/>
            <a:ext cx="6097656" cy="829945"/>
          </a:xfrm>
          <a:prstGeom prst="rect">
            <a:avLst/>
          </a:prstGeom>
          <a:noFill/>
        </p:spPr>
        <p:txBody>
          <a:bodyPr wrap="square">
            <a:spAutoFit/>
          </a:bodyPr>
          <a:lstStyle/>
          <a:p>
            <a:r>
              <a:rPr lang="en-IN" sz="4800" b="1" dirty="0">
                <a:solidFill>
                  <a:schemeClr val="tx1"/>
                </a:solidFill>
                <a:latin typeface="Times New Roman" panose="02020603050405020304" pitchFamily="18" charset="0"/>
                <a:cs typeface="Times New Roman" panose="02020603050405020304" pitchFamily="18" charset="0"/>
              </a:rPr>
              <a:t>Abstract</a:t>
            </a:r>
            <a:endParaRPr lang="en-IN" sz="4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988060" y="1566228"/>
            <a:ext cx="10215880" cy="4615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AI assistants: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Cortana, Siri, Google Assistant, Alexa.</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Mostly</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cloud-based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require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constant internet connectivity.</a:t>
            </a: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Tied to specific platforms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(e.g., Siri → iOS, Cortana → Windows).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installation or hardware dependency.</a:t>
            </a: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be executed directly from external storage.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personalization and system-level control.</a:t>
            </a: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3469059" y="481257"/>
            <a:ext cx="7735129" cy="829945"/>
          </a:xfrm>
          <a:prstGeom prst="rect">
            <a:avLst/>
          </a:prstGeom>
          <a:noFill/>
        </p:spPr>
        <p:txBody>
          <a:bodyPr wrap="square">
            <a:spAutoFit/>
          </a:bodyPr>
          <a:lstStyle/>
          <a:p>
            <a:r>
              <a:rPr lang="en-IN" sz="4800" b="1" dirty="0">
                <a:solidFill>
                  <a:schemeClr val="tx1"/>
                </a:solidFill>
                <a:latin typeface="Times New Roman" panose="02020603050405020304" pitchFamily="18" charset="0"/>
                <a:cs typeface="Times New Roman" panose="02020603050405020304" pitchFamily="18" charset="0"/>
              </a:rPr>
              <a:t>Existing </a:t>
            </a:r>
            <a:r>
              <a:rPr lang="en-IN" sz="4000" b="1" dirty="0">
                <a:solidFill>
                  <a:schemeClr val="tx1"/>
                </a:solidFill>
                <a:latin typeface="Times New Roman" panose="02020603050405020304" pitchFamily="18" charset="0"/>
                <a:cs typeface="Times New Roman" panose="02020603050405020304" pitchFamily="18" charset="0"/>
              </a:rPr>
              <a:t>System</a:t>
            </a:r>
            <a:endParaRPr lang="en-IN" sz="4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071769" y="2567145"/>
            <a:ext cx="9364319"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offline functionality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dependency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 internet and cloud services.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Platform restrictions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not cross-compatible.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Cannot run directly from portable devices like USB drives.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Privacy concerns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due to continuous online data exchange.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t>
            </a:r>
            <a:r>
              <a:rPr lang="en-US" altLang="en-US" sz="2400" b="1" dirty="0">
                <a:latin typeface="Times New Roman" panose="02020603050405020304" pitchFamily="18" charset="0"/>
                <a:cs typeface="Times New Roman" panose="02020603050405020304" pitchFamily="18" charset="0"/>
              </a:rPr>
              <a:t>i</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mited user control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 assistant’s functionality.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1162023" y="796788"/>
            <a:ext cx="10793896" cy="829945"/>
          </a:xfrm>
          <a:prstGeom prst="rect">
            <a:avLst/>
          </a:prstGeom>
          <a:noFill/>
        </p:spPr>
        <p:txBody>
          <a:bodyPr wrap="square">
            <a:spAutoFit/>
          </a:bodyPr>
          <a:lstStyle/>
          <a:p>
            <a:r>
              <a:rPr lang="en-US" altLang="en-IN" sz="4800" b="1" dirty="0">
                <a:solidFill>
                  <a:schemeClr val="tx1"/>
                </a:solidFill>
                <a:latin typeface="Times New Roman" panose="02020603050405020304" pitchFamily="18" charset="0"/>
                <a:cs typeface="Times New Roman" panose="02020603050405020304" pitchFamily="18" charset="0"/>
              </a:rPr>
              <a:t>Limitations</a:t>
            </a:r>
            <a:r>
              <a:rPr lang="en-IN" sz="4800" b="1" dirty="0">
                <a:solidFill>
                  <a:schemeClr val="tx1"/>
                </a:solidFill>
                <a:latin typeface="Times New Roman" panose="02020603050405020304" pitchFamily="18" charset="0"/>
                <a:cs typeface="Times New Roman" panose="02020603050405020304" pitchFamily="18" charset="0"/>
              </a:rPr>
              <a:t> of Existing System</a:t>
            </a:r>
            <a:endParaRPr lang="en-IN" sz="4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372846" y="1736078"/>
            <a:ext cx="8255635" cy="5015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JARVIS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fully portable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 assistant running from a pen drive.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cross-platform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Linux, macOS).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offline command processing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smart responses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Speech Recognition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voice input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output.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Remains hidden and listens for trigger words like “Hey Jarvis”.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perform tasks like: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Reading documents aloud.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Sending or replying to messages.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Opening files, folders, and applications.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Fetching AI-based answers using local or cloud models.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TextBox 3"/>
          <p:cNvSpPr txBox="1"/>
          <p:nvPr/>
        </p:nvSpPr>
        <p:spPr>
          <a:xfrm>
            <a:off x="1725017" y="689978"/>
            <a:ext cx="7337563" cy="922020"/>
          </a:xfrm>
          <a:prstGeom prst="rect">
            <a:avLst/>
          </a:prstGeom>
          <a:noFill/>
        </p:spPr>
        <p:txBody>
          <a:bodyPr wrap="square">
            <a:spAutoFit/>
          </a:bodyPr>
          <a:lstStyle/>
          <a:p>
            <a:r>
              <a:rPr lang="en-IN" sz="4800" b="1" dirty="0">
                <a:solidFill>
                  <a:schemeClr val="tx1"/>
                </a:solidFill>
                <a:latin typeface="Times New Roman" panose="02020603050405020304" pitchFamily="18" charset="0"/>
                <a:cs typeface="Times New Roman" panose="02020603050405020304" pitchFamily="18" charset="0"/>
              </a:rPr>
              <a:t>Proposed </a:t>
            </a:r>
            <a:r>
              <a:rPr lang="en-IN" sz="5400" b="1" dirty="0">
                <a:solidFill>
                  <a:schemeClr val="tx1"/>
                </a:solidFill>
                <a:latin typeface="Times New Roman" panose="02020603050405020304" pitchFamily="18" charset="0"/>
                <a:cs typeface="Times New Roman" panose="02020603050405020304" pitchFamily="18" charset="0"/>
              </a:rPr>
              <a:t>System</a:t>
            </a:r>
            <a:endParaRPr lang="en-IN" sz="54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864705" y="2223576"/>
            <a:ext cx="8972328" cy="376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Portable and Plug-and-Play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runs directly from a USB drive.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Cross-Platform Compatibility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works on any OS.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Offline + Online Hybrid Mode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uninterrupted performance.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Privacy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minimal data sharing.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natural voice conversation.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Customizable Commands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modular structure.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Installation Required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truly autonomous.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1151393" y="871856"/>
            <a:ext cx="9494354" cy="829945"/>
          </a:xfrm>
          <a:prstGeom prst="rect">
            <a:avLst/>
          </a:prstGeom>
          <a:noFill/>
        </p:spPr>
        <p:txBody>
          <a:bodyPr wrap="square">
            <a:spAutoFit/>
          </a:bodyPr>
          <a:lstStyle/>
          <a:p>
            <a:r>
              <a:rPr lang="en-IN" sz="4800" b="1" dirty="0">
                <a:solidFill>
                  <a:schemeClr val="tx1"/>
                </a:solidFill>
                <a:latin typeface="Times New Roman" panose="02020603050405020304" pitchFamily="18" charset="0"/>
                <a:cs typeface="Times New Roman" panose="02020603050405020304" pitchFamily="18" charset="0"/>
              </a:rPr>
              <a:t>Merits of Proposed System</a:t>
            </a:r>
            <a:endParaRPr lang="en-IN" sz="4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45293" y="1768715"/>
            <a:ext cx="5425939" cy="4001095"/>
          </a:xfrm>
          <a:prstGeom prst="rect">
            <a:avLst/>
          </a:prstGeom>
          <a:noFill/>
        </p:spPr>
        <p:txBody>
          <a:bodyPr wrap="square">
            <a:spAutoFit/>
          </a:bodyPr>
          <a:lstStyle/>
          <a:p>
            <a:pPr>
              <a:buNone/>
            </a:pPr>
            <a:r>
              <a:rPr lang="en-IN" sz="2800" b="1" i="1" dirty="0">
                <a:latin typeface="Times New Roman" panose="02020603050405020304" pitchFamily="18" charset="0"/>
                <a:cs typeface="Times New Roman" panose="02020603050405020304" pitchFamily="18" charset="0"/>
              </a:rPr>
              <a:t>Software :</a:t>
            </a:r>
            <a:endParaRPr lang="en-IN" sz="2800" b="1" i="1" dirty="0">
              <a:latin typeface="Times New Roman" panose="02020603050405020304" pitchFamily="18" charset="0"/>
              <a:cs typeface="Times New Roman" panose="02020603050405020304" pitchFamily="18" charset="0"/>
            </a:endParaRPr>
          </a:p>
          <a:p>
            <a:pPr>
              <a:buNone/>
            </a:pPr>
            <a:endParaRPr lang="en-IN" sz="1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Programming Language: Python</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Libraries: speech recognition, pyttsx3, </a:t>
            </a:r>
            <a:r>
              <a:rPr lang="en-IN" sz="2400" dirty="0" err="1">
                <a:latin typeface="Times New Roman" panose="02020603050405020304" pitchFamily="18" charset="0"/>
                <a:cs typeface="Times New Roman" panose="02020603050405020304" pitchFamily="18" charset="0"/>
              </a:rPr>
              <a:t>openai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os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tkinter</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pyaudio</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 </a:t>
            </a:r>
            <a:r>
              <a:rPr lang="en-IN" sz="2400" b="1" dirty="0">
                <a:latin typeface="Times New Roman" panose="02020603050405020304" pitchFamily="18" charset="0"/>
                <a:cs typeface="Times New Roman" panose="02020603050405020304" pitchFamily="18" charset="0"/>
              </a:rPr>
              <a:t>VS Code / PyCharm</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Operating Systems: </a:t>
            </a:r>
            <a:r>
              <a:rPr lang="en-IN" sz="2400" b="1" dirty="0">
                <a:latin typeface="Times New Roman" panose="02020603050405020304" pitchFamily="18" charset="0"/>
                <a:cs typeface="Times New Roman" panose="02020603050405020304" pitchFamily="18" charset="0"/>
              </a:rPr>
              <a:t>Windows, Linux, macOS</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Additional Tools: </a:t>
            </a:r>
            <a:r>
              <a:rPr lang="en-IN" sz="2400" b="1" dirty="0">
                <a:latin typeface="Times New Roman" panose="02020603050405020304" pitchFamily="18" charset="0"/>
                <a:cs typeface="Times New Roman" panose="02020603050405020304" pitchFamily="18" charset="0"/>
              </a:rPr>
              <a:t>Offline speech models</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TTS engine</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File handling modules</a:t>
            </a:r>
            <a:endParaRPr lang="en-IN" sz="2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695468" y="1959850"/>
            <a:ext cx="5496339" cy="3093154"/>
          </a:xfrm>
          <a:prstGeom prst="rect">
            <a:avLst/>
          </a:prstGeom>
          <a:noFill/>
        </p:spPr>
        <p:txBody>
          <a:bodyPr wrap="square">
            <a:spAutoFit/>
          </a:bodyPr>
          <a:lstStyle/>
          <a:p>
            <a:pPr>
              <a:buNone/>
            </a:pPr>
            <a:r>
              <a:rPr lang="en-US" sz="2800" b="1" i="1" dirty="0">
                <a:latin typeface="Times New Roman" panose="02020603050405020304" pitchFamily="18" charset="0"/>
                <a:cs typeface="Times New Roman" panose="02020603050405020304" pitchFamily="18" charset="0"/>
              </a:rPr>
              <a:t>Hardware :</a:t>
            </a:r>
            <a:endParaRPr lang="en-US" sz="2800" b="1" i="1" dirty="0">
              <a:latin typeface="Times New Roman" panose="02020603050405020304" pitchFamily="18" charset="0"/>
              <a:cs typeface="Times New Roman" panose="02020603050405020304" pitchFamily="18" charset="0"/>
            </a:endParaRPr>
          </a:p>
          <a:p>
            <a:pPr>
              <a:buNone/>
            </a:pPr>
            <a:endParaRPr lang="en-US" sz="23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USB Pen-drive (minimum 8 GB)</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Computer with microphone and speakers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4 GB RAM or higher</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Dual-core processor</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Internet (only for online AI mode)</a:t>
            </a:r>
            <a:endParaRPr lang="en-US"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924560" y="534035"/>
            <a:ext cx="10973435" cy="829945"/>
          </a:xfrm>
          <a:prstGeom prst="rect">
            <a:avLst/>
          </a:prstGeom>
          <a:noFill/>
        </p:spPr>
        <p:txBody>
          <a:bodyPr wrap="square">
            <a:spAutoFit/>
          </a:bodyPr>
          <a:lstStyle/>
          <a:p>
            <a:r>
              <a:rPr lang="en-IN" sz="4800" b="1" dirty="0">
                <a:solidFill>
                  <a:schemeClr val="tx1"/>
                </a:solidFill>
                <a:latin typeface="Times New Roman" panose="02020603050405020304" pitchFamily="18" charset="0"/>
                <a:cs typeface="Times New Roman" panose="02020603050405020304" pitchFamily="18" charset="0"/>
              </a:rPr>
              <a:t>Software and Hardware Requirements</a:t>
            </a:r>
            <a:endParaRPr lang="en-IN" sz="4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2304" y="1727112"/>
            <a:ext cx="5891711" cy="3493377"/>
          </a:xfrm>
          <a:prstGeom prst="rect">
            <a:avLst/>
          </a:prstGeom>
          <a:noFill/>
        </p:spPr>
        <p:txBody>
          <a:bodyPr wrap="square">
            <a:spAutoFit/>
          </a:bodyPr>
          <a:lstStyle/>
          <a:p>
            <a:pPr>
              <a:buNone/>
            </a:pPr>
            <a:r>
              <a:rPr lang="en-US" sz="2800" b="1" i="1" dirty="0">
                <a:latin typeface="Times New Roman" panose="02020603050405020304" pitchFamily="18" charset="0"/>
                <a:cs typeface="Times New Roman" panose="02020603050405020304" pitchFamily="18" charset="0"/>
              </a:rPr>
              <a:t>Functional :</a:t>
            </a:r>
            <a:endParaRPr lang="en-US" sz="2800" b="1" i="1" dirty="0">
              <a:latin typeface="Times New Roman" panose="02020603050405020304" pitchFamily="18" charset="0"/>
              <a:cs typeface="Times New Roman" panose="02020603050405020304" pitchFamily="18" charset="0"/>
            </a:endParaRPr>
          </a:p>
          <a:p>
            <a:pPr>
              <a:buNone/>
            </a:pPr>
            <a:endParaRPr lang="en-US" sz="23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Recognize voice commands.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Execute system-level tasks (open files,         control volume, etc.).</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Respond using speech output.</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Switch between offline and online modes.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Stay active in the background until trigger word detected.</a:t>
            </a:r>
            <a:endParaRPr lang="en-US" sz="2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284015" y="1758003"/>
            <a:ext cx="5721626" cy="4216539"/>
          </a:xfrm>
          <a:prstGeom prst="rect">
            <a:avLst/>
          </a:prstGeom>
          <a:noFill/>
        </p:spPr>
        <p:txBody>
          <a:bodyPr wrap="square">
            <a:spAutoFit/>
          </a:bodyPr>
          <a:lstStyle/>
          <a:p>
            <a:r>
              <a:rPr lang="en-IN" sz="2800" b="1" i="1" dirty="0">
                <a:latin typeface="Times New Roman" panose="02020603050405020304" pitchFamily="18" charset="0"/>
                <a:cs typeface="Times New Roman" panose="02020603050405020304" pitchFamily="18" charset="0"/>
              </a:rPr>
              <a:t>Non-Functional :</a:t>
            </a:r>
            <a:endParaRPr lang="en-IN" sz="2800" b="1" i="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Portability:</a:t>
            </a:r>
            <a:r>
              <a:rPr lang="en-IN" sz="2400" dirty="0">
                <a:latin typeface="Times New Roman" panose="02020603050405020304" pitchFamily="18" charset="0"/>
                <a:cs typeface="Times New Roman" panose="02020603050405020304" pitchFamily="18" charset="0"/>
              </a:rPr>
              <a:t> Should execute from any USB drive.</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Usability:</a:t>
            </a:r>
            <a:r>
              <a:rPr lang="en-IN" sz="2400" dirty="0">
                <a:latin typeface="Times New Roman" panose="02020603050405020304" pitchFamily="18" charset="0"/>
                <a:cs typeface="Times New Roman" panose="02020603050405020304" pitchFamily="18" charset="0"/>
              </a:rPr>
              <a:t> Simple and user-friendly voice interface.</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Performance:</a:t>
            </a:r>
            <a:r>
              <a:rPr lang="en-IN" sz="2400" dirty="0">
                <a:latin typeface="Times New Roman" panose="02020603050405020304" pitchFamily="18" charset="0"/>
                <a:cs typeface="Times New Roman" panose="02020603050405020304" pitchFamily="18" charset="0"/>
              </a:rPr>
              <a:t> Quick response time (&lt; 3 seconds).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Reliability:</a:t>
            </a:r>
            <a:r>
              <a:rPr lang="en-IN" sz="2400" dirty="0">
                <a:latin typeface="Times New Roman" panose="02020603050405020304" pitchFamily="18" charset="0"/>
                <a:cs typeface="Times New Roman" panose="02020603050405020304" pitchFamily="18" charset="0"/>
              </a:rPr>
              <a:t> Stable across platforms.</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Security:</a:t>
            </a:r>
            <a:r>
              <a:rPr lang="en-IN" sz="2400" dirty="0">
                <a:latin typeface="Times New Roman" panose="02020603050405020304" pitchFamily="18" charset="0"/>
                <a:cs typeface="Times New Roman" panose="02020603050405020304" pitchFamily="18" charset="0"/>
              </a:rPr>
              <a:t> Minimal data storage; privacy-focused.</a:t>
            </a:r>
            <a:endParaRPr lang="en-IN"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75367" y="680784"/>
            <a:ext cx="11819282" cy="768350"/>
          </a:xfrm>
          <a:prstGeom prst="rect">
            <a:avLst/>
          </a:prstGeom>
          <a:noFill/>
        </p:spPr>
        <p:txBody>
          <a:bodyPr wrap="square">
            <a:spAutoFit/>
          </a:bodyPr>
          <a:lstStyle/>
          <a:p>
            <a:r>
              <a:rPr lang="en-IN" sz="4400" b="1" dirty="0">
                <a:solidFill>
                  <a:schemeClr val="tx1"/>
                </a:solidFill>
                <a:latin typeface="Times New Roman" panose="02020603050405020304" pitchFamily="18" charset="0"/>
                <a:cs typeface="Times New Roman" panose="02020603050405020304" pitchFamily="18" charset="0"/>
              </a:rPr>
              <a:t>Functional and Non-Functional Requirements</a:t>
            </a:r>
            <a:endParaRPr lang="en-IN" sz="44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0051" y="256590"/>
            <a:ext cx="5695949" cy="829945"/>
          </a:xfrm>
          <a:prstGeom prst="rect">
            <a:avLst/>
          </a:prstGeom>
          <a:noFill/>
        </p:spPr>
        <p:txBody>
          <a:bodyPr wrap="square">
            <a:spAutoFit/>
          </a:bodyPr>
          <a:lstStyle/>
          <a:p>
            <a:r>
              <a:rPr lang="en-IN" sz="4800" b="1" dirty="0">
                <a:solidFill>
                  <a:schemeClr val="tx1"/>
                </a:solidFill>
                <a:latin typeface="Times New Roman" panose="02020603050405020304" pitchFamily="18" charset="0"/>
                <a:cs typeface="Times New Roman" panose="02020603050405020304" pitchFamily="18" charset="0"/>
              </a:rPr>
              <a:t>ARCHITECTURE</a:t>
            </a:r>
            <a:endParaRPr lang="en-IN" sz="4800" b="1"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2391332" y="1392486"/>
            <a:ext cx="8307148" cy="5384234"/>
          </a:xfrm>
          <a:prstGeom prst="rect">
            <a:avLst/>
          </a:prstGeom>
          <a:no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8" name="Picture 7"/>
          <p:cNvPicPr>
            <a:picLocks noChangeAspect="1"/>
          </p:cNvPicPr>
          <p:nvPr/>
        </p:nvPicPr>
        <p:blipFill>
          <a:blip r:embed="rId1"/>
          <a:stretch>
            <a:fillRect/>
          </a:stretch>
        </p:blipFill>
        <p:spPr>
          <a:xfrm>
            <a:off x="2256712" y="1439857"/>
            <a:ext cx="8012508" cy="5336863"/>
          </a:xfrm>
          <a:prstGeom prst="rect">
            <a:avLst/>
          </a:prstGeom>
        </p:spPr>
      </p:pic>
      <p:sp>
        <p:nvSpPr>
          <p:cNvPr id="9" name="Rectangle 8"/>
          <p:cNvSpPr/>
          <p:nvPr/>
        </p:nvSpPr>
        <p:spPr>
          <a:xfrm>
            <a:off x="2783840" y="5273040"/>
            <a:ext cx="3911600" cy="1219200"/>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783840" y="1767840"/>
            <a:ext cx="2712720" cy="467360"/>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p:cNvSpPr/>
          <p:nvPr/>
        </p:nvSpPr>
        <p:spPr>
          <a:xfrm>
            <a:off x="2052320" y="1419225"/>
            <a:ext cx="731520" cy="54146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31010" y="646430"/>
            <a:ext cx="6096000" cy="768350"/>
          </a:xfrm>
          <a:prstGeom prst="rect">
            <a:avLst/>
          </a:prstGeom>
          <a:noFill/>
        </p:spPr>
        <p:txBody>
          <a:bodyPr wrap="square" rtlCol="0" anchor="t">
            <a:spAutoFit/>
          </a:bodyPr>
          <a:p>
            <a:r>
              <a:rPr lang="en-US" sz="4400" b="1" dirty="0">
                <a:latin typeface="Times New Roman" panose="02020603050405020304" pitchFamily="18" charset="0"/>
                <a:ea typeface="Brygada 1918 Bold" pitchFamily="34" charset="-122"/>
                <a:cs typeface="Times New Roman" panose="02020603050405020304" pitchFamily="18" charset="0"/>
                <a:sym typeface="+mn-ea"/>
              </a:rPr>
              <a:t>MODULES </a:t>
            </a:r>
            <a:endParaRPr lang="en-US" sz="4400" b="1" dirty="0">
              <a:latin typeface="Times New Roman" panose="02020603050405020304" pitchFamily="18" charset="0"/>
              <a:ea typeface="Brygada 1918 Bold" pitchFamily="34" charset="-122"/>
              <a:cs typeface="Times New Roman" panose="02020603050405020304" pitchFamily="18" charset="0"/>
              <a:sym typeface="+mn-ea"/>
            </a:endParaRPr>
          </a:p>
        </p:txBody>
      </p:sp>
      <p:sp>
        <p:nvSpPr>
          <p:cNvPr id="3" name="Text Box 2"/>
          <p:cNvSpPr txBox="1"/>
          <p:nvPr/>
        </p:nvSpPr>
        <p:spPr>
          <a:xfrm>
            <a:off x="1933575" y="1750695"/>
            <a:ext cx="6096000" cy="3969385"/>
          </a:xfrm>
          <a:prstGeom prst="rect">
            <a:avLst/>
          </a:prstGeom>
          <a:noFill/>
        </p:spPr>
        <p:txBody>
          <a:bodyPr wrap="square" rtlCol="0" anchor="t">
            <a:spAutoFit/>
          </a:bodyPr>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 Voice Interaction Module</a:t>
            </a:r>
            <a:r>
              <a:rPr lang="en-US" altLang="en-US" sz="2800" dirty="0">
                <a:solidFill>
                  <a:schemeClr val="tx1"/>
                </a:solidFill>
                <a:latin typeface="Times New Roman" panose="02020603050405020304" pitchFamily="18" charset="0"/>
                <a:cs typeface="Times New Roman" panose="02020603050405020304" pitchFamily="18" charset="0"/>
                <a:sym typeface="+mn-ea"/>
              </a:rPr>
              <a:t> Voice Out</a:t>
            </a:r>
            <a:endParaRPr lang="en-US" altLang="en-US" sz="28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 Command Processing Module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AI Intelligence Module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System Automation Module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File &amp; Media Management Module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Portability &amp; Deployment Module</a:t>
            </a:r>
            <a:endPar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543025" y="2481064"/>
            <a:ext cx="3616821" cy="1794868"/>
          </a:xfrm>
          <a:prstGeom prst="roundRect">
            <a:avLst>
              <a:gd name="adj" fmla="val 5095"/>
            </a:avLst>
          </a:prstGeom>
          <a:solidFill>
            <a:schemeClr val="bg1"/>
          </a:solidFill>
        </p:spPr>
        <p:txBody>
          <a:bodyPr/>
          <a:lstStyle/>
          <a:p>
            <a:endParaRPr lang="en-IN"/>
          </a:p>
        </p:txBody>
      </p:sp>
      <p:sp>
        <p:nvSpPr>
          <p:cNvPr id="5" name="Shape 3"/>
          <p:cNvSpPr/>
          <p:nvPr/>
        </p:nvSpPr>
        <p:spPr>
          <a:xfrm>
            <a:off x="539571" y="1130845"/>
            <a:ext cx="5203545" cy="74636"/>
          </a:xfrm>
          <a:prstGeom prst="roundRect">
            <a:avLst>
              <a:gd name="adj" fmla="val 29704"/>
            </a:avLst>
          </a:prstGeom>
          <a:solidFill>
            <a:schemeClr val="bg1"/>
          </a:solidFill>
        </p:spPr>
        <p:txBody>
          <a:bodyPr/>
          <a:lstStyle/>
          <a:p>
            <a:endParaRPr lang="en-IN"/>
          </a:p>
        </p:txBody>
      </p:sp>
      <p:sp>
        <p:nvSpPr>
          <p:cNvPr id="6" name="Shape 4"/>
          <p:cNvSpPr/>
          <p:nvPr/>
        </p:nvSpPr>
        <p:spPr>
          <a:xfrm>
            <a:off x="2831475" y="872498"/>
            <a:ext cx="452636" cy="452636"/>
          </a:xfrm>
          <a:prstGeom prst="roundRect">
            <a:avLst>
              <a:gd name="adj" fmla="val 168347"/>
            </a:avLst>
          </a:prstGeom>
          <a:solidFill>
            <a:schemeClr val="bg1"/>
          </a:solidFill>
        </p:spPr>
        <p:style>
          <a:lnRef idx="1">
            <a:schemeClr val="accent2"/>
          </a:lnRef>
          <a:fillRef idx="2">
            <a:schemeClr val="accent2"/>
          </a:fillRef>
          <a:effectRef idx="1">
            <a:schemeClr val="accent2"/>
          </a:effectRef>
          <a:fontRef idx="minor">
            <a:schemeClr val="dk1"/>
          </a:fontRef>
        </p:style>
        <p:txBody>
          <a:bodyPr/>
          <a:lstStyle/>
          <a:p>
            <a:r>
              <a:rPr lang="en-US" dirty="0"/>
              <a:t>1</a:t>
            </a:r>
            <a:endParaRPr lang="en-IN" dirty="0"/>
          </a:p>
        </p:txBody>
      </p:sp>
      <p:sp>
        <p:nvSpPr>
          <p:cNvPr id="7" name="Text 5"/>
          <p:cNvSpPr/>
          <p:nvPr/>
        </p:nvSpPr>
        <p:spPr>
          <a:xfrm>
            <a:off x="2183946" y="1393699"/>
            <a:ext cx="180975" cy="226318"/>
          </a:xfrm>
          <a:prstGeom prst="rect">
            <a:avLst/>
          </a:prstGeom>
          <a:solidFill>
            <a:schemeClr val="bg1"/>
          </a:solidFill>
        </p:spPr>
        <p:txBody>
          <a:bodyPr wrap="none" lIns="0" tIns="0" rIns="0" bIns="0" rtlCol="0" anchor="t"/>
          <a:lstStyle/>
          <a:p>
            <a:pPr>
              <a:lnSpc>
                <a:spcPts val="2085"/>
              </a:lnSpc>
            </a:pPr>
            <a:endParaRPr lang="en-US" sz="1415" dirty="0"/>
          </a:p>
        </p:txBody>
      </p:sp>
      <p:sp>
        <p:nvSpPr>
          <p:cNvPr id="23" name="Shape 21"/>
          <p:cNvSpPr/>
          <p:nvPr/>
        </p:nvSpPr>
        <p:spPr>
          <a:xfrm>
            <a:off x="6155340" y="1132387"/>
            <a:ext cx="5203545" cy="73093"/>
          </a:xfrm>
          <a:prstGeom prst="roundRect">
            <a:avLst>
              <a:gd name="adj" fmla="val 29704"/>
            </a:avLst>
          </a:prstGeom>
          <a:solidFill>
            <a:schemeClr val="bg1"/>
          </a:solidFill>
        </p:spPr>
        <p:txBody>
          <a:bodyPr/>
          <a:lstStyle/>
          <a:p>
            <a:endParaRPr lang="en-IN"/>
          </a:p>
        </p:txBody>
      </p:sp>
      <p:sp>
        <p:nvSpPr>
          <p:cNvPr id="34" name="TextBox 33"/>
          <p:cNvSpPr txBox="1"/>
          <p:nvPr/>
        </p:nvSpPr>
        <p:spPr>
          <a:xfrm>
            <a:off x="3284220" y="180340"/>
            <a:ext cx="5772150" cy="829945"/>
          </a:xfrm>
          <a:prstGeom prst="rect">
            <a:avLst/>
          </a:prstGeom>
          <a:solidFill>
            <a:schemeClr val="bg1"/>
          </a:solidFill>
        </p:spPr>
        <p:txBody>
          <a:bodyPr wrap="square">
            <a:spAutoFit/>
          </a:bodyPr>
          <a:lstStyle/>
          <a:p>
            <a:r>
              <a:rPr lang="en-US" sz="4800" b="1" dirty="0">
                <a:latin typeface="Times New Roman" panose="02020603050405020304" pitchFamily="18" charset="0"/>
                <a:cs typeface="Times New Roman" panose="02020603050405020304" pitchFamily="18" charset="0"/>
              </a:rPr>
              <a:t>MODULES USED</a:t>
            </a:r>
            <a:endParaRPr lang="en-US" sz="4800" b="1"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660844" y="1326148"/>
            <a:ext cx="4921459" cy="5032147"/>
          </a:xfrm>
          <a:prstGeom prst="rect">
            <a:avLst/>
          </a:prstGeom>
          <a:solidFill>
            <a:schemeClr val="bg1"/>
          </a:solidFill>
        </p:spPr>
        <p:txBody>
          <a:bodyPr wrap="square">
            <a:spAutoFit/>
          </a:bodyP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    Voice Interaction Module</a:t>
            </a:r>
            <a:endParaRPr lang="en-US"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Captures user voice commands using microphone</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Converts speech to text and text back to speech</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Enables hands-free interaction using a trigger word</a:t>
            </a:r>
            <a:endParaRPr lang="en-US"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    Command Processing Module</a:t>
            </a:r>
            <a:endParaRPr lang="en-US"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Analyzes user commands</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Identifies whether the request is system-related               </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Routes commands to appropriate module</a:t>
            </a:r>
            <a:endParaRPr lang="en-US"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 </a:t>
            </a:r>
            <a:endParaRPr lang="en-US"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    AI Intelligence Module</a:t>
            </a:r>
            <a:endParaRPr lang="en-US"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dirty="0">
                <a:solidFill>
                  <a:schemeClr val="tx1"/>
                </a:solidFill>
                <a:latin typeface="Times New Roman" panose="02020603050405020304" pitchFamily="18" charset="0"/>
                <a:cs typeface="Times New Roman" panose="02020603050405020304" pitchFamily="18" charset="0"/>
              </a:rPr>
              <a:t>Handles intelligent question answering</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Uses online AI model when internet is available</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Provides human-like responses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7" name="Shape 3"/>
          <p:cNvSpPr/>
          <p:nvPr/>
        </p:nvSpPr>
        <p:spPr>
          <a:xfrm>
            <a:off x="543025" y="2984054"/>
            <a:ext cx="4882117" cy="76200"/>
          </a:xfrm>
          <a:prstGeom prst="roundRect">
            <a:avLst>
              <a:gd name="adj" fmla="val 29704"/>
            </a:avLst>
          </a:prstGeom>
          <a:solidFill>
            <a:schemeClr val="bg1"/>
          </a:solidFill>
        </p:spPr>
        <p:txBody>
          <a:bodyPr/>
          <a:lstStyle/>
          <a:p>
            <a:endParaRPr lang="en-IN"/>
          </a:p>
        </p:txBody>
      </p:sp>
      <p:sp>
        <p:nvSpPr>
          <p:cNvPr id="38" name="Shape 4"/>
          <p:cNvSpPr/>
          <p:nvPr/>
        </p:nvSpPr>
        <p:spPr>
          <a:xfrm>
            <a:off x="2757765" y="2795836"/>
            <a:ext cx="452636" cy="452636"/>
          </a:xfrm>
          <a:prstGeom prst="roundRect">
            <a:avLst>
              <a:gd name="adj" fmla="val 168347"/>
            </a:avLst>
          </a:prstGeom>
          <a:solidFill>
            <a:schemeClr val="bg1"/>
          </a:solidFill>
        </p:spPr>
        <p:style>
          <a:lnRef idx="1">
            <a:schemeClr val="accent2"/>
          </a:lnRef>
          <a:fillRef idx="2">
            <a:schemeClr val="accent2"/>
          </a:fillRef>
          <a:effectRef idx="1">
            <a:schemeClr val="accent2"/>
          </a:effectRef>
          <a:fontRef idx="minor">
            <a:schemeClr val="dk1"/>
          </a:fontRef>
        </p:style>
        <p:txBody>
          <a:bodyPr/>
          <a:lstStyle/>
          <a:p>
            <a:r>
              <a:rPr lang="en-US" dirty="0"/>
              <a:t>2</a:t>
            </a:r>
            <a:endParaRPr lang="en-IN" dirty="0"/>
          </a:p>
        </p:txBody>
      </p:sp>
      <p:sp>
        <p:nvSpPr>
          <p:cNvPr id="40" name="Shape 3"/>
          <p:cNvSpPr/>
          <p:nvPr/>
        </p:nvSpPr>
        <p:spPr>
          <a:xfrm>
            <a:off x="507966" y="4809461"/>
            <a:ext cx="4882117" cy="76200"/>
          </a:xfrm>
          <a:prstGeom prst="roundRect">
            <a:avLst>
              <a:gd name="adj" fmla="val 29704"/>
            </a:avLst>
          </a:prstGeom>
          <a:solidFill>
            <a:schemeClr val="bg1"/>
          </a:solidFill>
        </p:spPr>
        <p:txBody>
          <a:bodyPr/>
          <a:lstStyle/>
          <a:p>
            <a:endParaRPr lang="en-IN"/>
          </a:p>
        </p:txBody>
      </p:sp>
      <p:sp>
        <p:nvSpPr>
          <p:cNvPr id="41" name="Shape 4"/>
          <p:cNvSpPr/>
          <p:nvPr/>
        </p:nvSpPr>
        <p:spPr>
          <a:xfrm>
            <a:off x="2767675" y="4601402"/>
            <a:ext cx="452636" cy="452636"/>
          </a:xfrm>
          <a:prstGeom prst="roundRect">
            <a:avLst>
              <a:gd name="adj" fmla="val 168347"/>
            </a:avLst>
          </a:prstGeom>
          <a:solidFill>
            <a:schemeClr val="bg1"/>
          </a:solidFill>
        </p:spPr>
        <p:style>
          <a:lnRef idx="1">
            <a:schemeClr val="accent2"/>
          </a:lnRef>
          <a:fillRef idx="2">
            <a:schemeClr val="accent2"/>
          </a:fillRef>
          <a:effectRef idx="1">
            <a:schemeClr val="accent2"/>
          </a:effectRef>
          <a:fontRef idx="minor">
            <a:schemeClr val="dk1"/>
          </a:fontRef>
        </p:style>
        <p:txBody>
          <a:bodyPr/>
          <a:lstStyle/>
          <a:p>
            <a:r>
              <a:rPr lang="en-US" dirty="0"/>
              <a:t>3</a:t>
            </a:r>
            <a:endParaRPr lang="en-IN" dirty="0"/>
          </a:p>
        </p:txBody>
      </p:sp>
      <p:sp>
        <p:nvSpPr>
          <p:cNvPr id="42" name="TextBox 41"/>
          <p:cNvSpPr txBox="1"/>
          <p:nvPr/>
        </p:nvSpPr>
        <p:spPr>
          <a:xfrm>
            <a:off x="6330477" y="1329466"/>
            <a:ext cx="5179729" cy="5047536"/>
          </a:xfrm>
          <a:prstGeom prst="rect">
            <a:avLst/>
          </a:prstGeom>
          <a:solidFill>
            <a:schemeClr val="bg1"/>
          </a:solidFill>
          <a:ln>
            <a:noFill/>
          </a:ln>
        </p:spPr>
        <p:txBody>
          <a:bodyPr wrap="square">
            <a:spAutoFit/>
          </a:bodyPr>
          <a:lstStyle/>
          <a:p>
            <a:pPr>
              <a:lnSpc>
                <a:spcPct val="150000"/>
              </a:lnSpc>
            </a:pPr>
            <a:r>
              <a:rPr lang="en-IN" b="1" dirty="0">
                <a:solidFill>
                  <a:schemeClr val="tx1"/>
                </a:solidFill>
                <a:latin typeface="Times New Roman" panose="02020603050405020304" pitchFamily="18" charset="0"/>
                <a:cs typeface="Times New Roman" panose="02020603050405020304" pitchFamily="18" charset="0"/>
              </a:rPr>
              <a:t>    System Automation Module</a:t>
            </a:r>
            <a:endParaRPr lang="en-IN"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Performs tasks like opening applications, web</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Executes OS-level operations smoothly</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Works silently in background</a:t>
            </a:r>
            <a:endParaRPr lang="en-IN"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b="1" dirty="0">
                <a:solidFill>
                  <a:schemeClr val="tx1"/>
                </a:solidFill>
                <a:latin typeface="Times New Roman" panose="02020603050405020304" pitchFamily="18" charset="0"/>
                <a:cs typeface="Times New Roman" panose="02020603050405020304" pitchFamily="18" charset="0"/>
              </a:rPr>
              <a:t>    File &amp; Media Management Module</a:t>
            </a:r>
            <a:endParaRPr lang="en-IN"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Accesses files stored on USB or system</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Opens documents, images, audio, and video</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Supports safe deletion and file operations</a:t>
            </a:r>
            <a:endParaRPr lang="en-IN" dirty="0">
              <a:solidFill>
                <a:schemeClr val="tx1"/>
              </a:solidFill>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 </a:t>
            </a:r>
            <a:endParaRPr lang="en-IN"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b="1" dirty="0">
                <a:solidFill>
                  <a:schemeClr val="tx1"/>
                </a:solidFill>
                <a:latin typeface="Times New Roman" panose="02020603050405020304" pitchFamily="18" charset="0"/>
                <a:cs typeface="Times New Roman" panose="02020603050405020304" pitchFamily="18" charset="0"/>
              </a:rPr>
              <a:t>    Portability &amp; Deployment Module</a:t>
            </a:r>
            <a:endParaRPr lang="en-IN"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IN" dirty="0">
                <a:solidFill>
                  <a:schemeClr val="tx1"/>
                </a:solidFill>
                <a:latin typeface="Times New Roman" panose="02020603050405020304" pitchFamily="18" charset="0"/>
                <a:cs typeface="Times New Roman" panose="02020603050405020304" pitchFamily="18" charset="0"/>
              </a:rPr>
              <a:t>Runs directly from USB pen drive</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No installation required on host system</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Works across Windows, Linux, and macOS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3" name="Shape 21"/>
          <p:cNvSpPr/>
          <p:nvPr/>
        </p:nvSpPr>
        <p:spPr>
          <a:xfrm>
            <a:off x="6155339" y="4811014"/>
            <a:ext cx="5203545" cy="73093"/>
          </a:xfrm>
          <a:prstGeom prst="roundRect">
            <a:avLst>
              <a:gd name="adj" fmla="val 29704"/>
            </a:avLst>
          </a:prstGeom>
          <a:solidFill>
            <a:schemeClr val="bg1"/>
          </a:solidFill>
        </p:spPr>
        <p:txBody>
          <a:bodyPr/>
          <a:lstStyle/>
          <a:p>
            <a:endParaRPr lang="en-IN"/>
          </a:p>
        </p:txBody>
      </p:sp>
      <p:sp>
        <p:nvSpPr>
          <p:cNvPr id="44" name="Shape 21"/>
          <p:cNvSpPr/>
          <p:nvPr/>
        </p:nvSpPr>
        <p:spPr>
          <a:xfrm>
            <a:off x="6155339" y="2984054"/>
            <a:ext cx="5203545" cy="73093"/>
          </a:xfrm>
          <a:prstGeom prst="roundRect">
            <a:avLst>
              <a:gd name="adj" fmla="val 29704"/>
            </a:avLst>
          </a:prstGeom>
          <a:solidFill>
            <a:schemeClr val="bg1"/>
          </a:solidFill>
        </p:spPr>
        <p:txBody>
          <a:bodyPr/>
          <a:lstStyle/>
          <a:p>
            <a:endParaRPr lang="en-IN"/>
          </a:p>
        </p:txBody>
      </p:sp>
      <p:sp>
        <p:nvSpPr>
          <p:cNvPr id="45" name="Shape 4"/>
          <p:cNvSpPr/>
          <p:nvPr/>
        </p:nvSpPr>
        <p:spPr>
          <a:xfrm>
            <a:off x="8529173" y="4567155"/>
            <a:ext cx="452636" cy="452636"/>
          </a:xfrm>
          <a:prstGeom prst="roundRect">
            <a:avLst>
              <a:gd name="adj" fmla="val 168347"/>
            </a:avLst>
          </a:prstGeom>
          <a:solidFill>
            <a:schemeClr val="bg1"/>
          </a:solidFill>
        </p:spPr>
        <p:style>
          <a:lnRef idx="1">
            <a:schemeClr val="accent2"/>
          </a:lnRef>
          <a:fillRef idx="2">
            <a:schemeClr val="accent2"/>
          </a:fillRef>
          <a:effectRef idx="1">
            <a:schemeClr val="accent2"/>
          </a:effectRef>
          <a:fontRef idx="minor">
            <a:schemeClr val="dk1"/>
          </a:fontRef>
        </p:style>
        <p:txBody>
          <a:bodyPr/>
          <a:lstStyle/>
          <a:p>
            <a:r>
              <a:rPr lang="en-US" dirty="0"/>
              <a:t>6</a:t>
            </a:r>
            <a:endParaRPr lang="en-IN" dirty="0"/>
          </a:p>
        </p:txBody>
      </p:sp>
      <p:sp>
        <p:nvSpPr>
          <p:cNvPr id="46" name="Shape 4"/>
          <p:cNvSpPr/>
          <p:nvPr/>
        </p:nvSpPr>
        <p:spPr>
          <a:xfrm>
            <a:off x="8529173" y="2757736"/>
            <a:ext cx="452636" cy="452636"/>
          </a:xfrm>
          <a:prstGeom prst="roundRect">
            <a:avLst>
              <a:gd name="adj" fmla="val 168347"/>
            </a:avLst>
          </a:prstGeom>
          <a:solidFill>
            <a:schemeClr val="bg1"/>
          </a:solidFill>
        </p:spPr>
        <p:style>
          <a:lnRef idx="1">
            <a:schemeClr val="accent2"/>
          </a:lnRef>
          <a:fillRef idx="2">
            <a:schemeClr val="accent2"/>
          </a:fillRef>
          <a:effectRef idx="1">
            <a:schemeClr val="accent2"/>
          </a:effectRef>
          <a:fontRef idx="minor">
            <a:schemeClr val="dk1"/>
          </a:fontRef>
        </p:style>
        <p:txBody>
          <a:bodyPr/>
          <a:lstStyle/>
          <a:p>
            <a:r>
              <a:rPr lang="en-US" dirty="0"/>
              <a:t>5</a:t>
            </a:r>
            <a:endParaRPr lang="en-IN" dirty="0"/>
          </a:p>
        </p:txBody>
      </p:sp>
      <p:sp>
        <p:nvSpPr>
          <p:cNvPr id="47" name="Shape 4"/>
          <p:cNvSpPr/>
          <p:nvPr/>
        </p:nvSpPr>
        <p:spPr>
          <a:xfrm>
            <a:off x="8529173" y="904527"/>
            <a:ext cx="452636" cy="452636"/>
          </a:xfrm>
          <a:prstGeom prst="roundRect">
            <a:avLst>
              <a:gd name="adj" fmla="val 168347"/>
            </a:avLst>
          </a:prstGeom>
          <a:solidFill>
            <a:schemeClr val="bg1"/>
          </a:solidFill>
        </p:spPr>
        <p:style>
          <a:lnRef idx="1">
            <a:schemeClr val="accent2"/>
          </a:lnRef>
          <a:fillRef idx="2">
            <a:schemeClr val="accent2"/>
          </a:fillRef>
          <a:effectRef idx="1">
            <a:schemeClr val="accent2"/>
          </a:effectRef>
          <a:fontRef idx="minor">
            <a:schemeClr val="dk1"/>
          </a:fontRef>
        </p:style>
        <p:txBody>
          <a:bodyPr/>
          <a:lstStyle/>
          <a:p>
            <a:r>
              <a:rPr lang="en-US" dirty="0"/>
              <a:t>4</a:t>
            </a:r>
            <a:endParaRPr lang="en-IN" dirty="0"/>
          </a:p>
        </p:txBody>
      </p:sp>
      <p:sp>
        <p:nvSpPr>
          <p:cNvPr id="48" name="Rectangle 47"/>
          <p:cNvSpPr/>
          <p:nvPr/>
        </p:nvSpPr>
        <p:spPr>
          <a:xfrm>
            <a:off x="0" y="6482281"/>
            <a:ext cx="12192000" cy="298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3"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1794" y="1480134"/>
            <a:ext cx="258876" cy="258876"/>
          </a:xfrm>
          <a:prstGeom prst="rect">
            <a:avLst/>
          </a:prstGeom>
        </p:spPr>
      </p:pic>
      <p:pic>
        <p:nvPicPr>
          <p:cNvPr id="54"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1794" y="3233917"/>
            <a:ext cx="248901" cy="248901"/>
          </a:xfrm>
          <a:prstGeom prst="rect">
            <a:avLst/>
          </a:prstGeom>
        </p:spPr>
      </p:pic>
      <p:pic>
        <p:nvPicPr>
          <p:cNvPr id="5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5521" y="4977982"/>
            <a:ext cx="254042" cy="254043"/>
          </a:xfrm>
          <a:prstGeom prst="rect">
            <a:avLst/>
          </a:prstGeom>
        </p:spPr>
      </p:pic>
      <p:pic>
        <p:nvPicPr>
          <p:cNvPr id="56" name="Image 1"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5913" y="1431798"/>
            <a:ext cx="293786" cy="293786"/>
          </a:xfrm>
          <a:prstGeom prst="rect">
            <a:avLst/>
          </a:prstGeom>
        </p:spPr>
      </p:pic>
      <p:pic>
        <p:nvPicPr>
          <p:cNvPr id="5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56767" y="3210372"/>
            <a:ext cx="315986" cy="315986"/>
          </a:xfrm>
          <a:prstGeom prst="rect">
            <a:avLst/>
          </a:prstGeom>
        </p:spPr>
      </p:pic>
      <p:pic>
        <p:nvPicPr>
          <p:cNvPr id="58" name="Image 0"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38660" y="4951415"/>
            <a:ext cx="334093" cy="33409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285295" y="2950591"/>
            <a:ext cx="1992198" cy="12156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speak()</a:t>
            </a:r>
            <a:endParaRPr lang="en-IN" sz="1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wishme()</a:t>
            </a:r>
            <a:endParaRPr lang="en-IN" sz="1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takeCOmmand()</a:t>
            </a:r>
            <a:endParaRPr lang="en-IN" sz="1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sendEmail()</a:t>
            </a:r>
            <a:endParaRPr lang="en-IN" sz="1200" dirty="0">
              <a:latin typeface="Times New Roman" panose="02020603050405020304" pitchFamily="18" charset="0"/>
              <a:cs typeface="Times New Roman" panose="02020603050405020304" pitchFamily="18" charset="0"/>
            </a:endParaRPr>
          </a:p>
        </p:txBody>
      </p:sp>
      <p:sp>
        <p:nvSpPr>
          <p:cNvPr id="12" name="Rectangle 11"/>
          <p:cNvSpPr/>
          <p:nvPr/>
        </p:nvSpPr>
        <p:spPr>
          <a:xfrm>
            <a:off x="5285295" y="2420378"/>
            <a:ext cx="1992198" cy="530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600" b="1" dirty="0">
                <a:latin typeface="Times New Roman" panose="02020603050405020304" pitchFamily="18" charset="0"/>
                <a:cs typeface="Times New Roman" panose="02020603050405020304" pitchFamily="18" charset="0"/>
              </a:rPr>
              <a:t>Controller</a:t>
            </a:r>
            <a:endParaRPr lang="en-IN" sz="1600" b="1" dirty="0">
              <a:latin typeface="Times New Roman" panose="02020603050405020304" pitchFamily="18" charset="0"/>
              <a:cs typeface="Times New Roman" panose="02020603050405020304" pitchFamily="18" charset="0"/>
            </a:endParaRPr>
          </a:p>
        </p:txBody>
      </p:sp>
      <p:sp>
        <p:nvSpPr>
          <p:cNvPr id="13" name="Rectangle 12"/>
          <p:cNvSpPr/>
          <p:nvPr/>
        </p:nvSpPr>
        <p:spPr>
          <a:xfrm>
            <a:off x="8700941" y="2632435"/>
            <a:ext cx="1951348" cy="6716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recognizer()</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listen()</a:t>
            </a:r>
            <a:endParaRPr lang="en-IN" sz="1200" dirty="0">
              <a:latin typeface="Times New Roman" panose="02020603050405020304" pitchFamily="18" charset="0"/>
              <a:cs typeface="Times New Roman" panose="02020603050405020304" pitchFamily="18" charset="0"/>
            </a:endParaRPr>
          </a:p>
        </p:txBody>
      </p:sp>
      <p:sp>
        <p:nvSpPr>
          <p:cNvPr id="14" name="Rectangle 13"/>
          <p:cNvSpPr/>
          <p:nvPr/>
        </p:nvSpPr>
        <p:spPr>
          <a:xfrm>
            <a:off x="8700941" y="2313435"/>
            <a:ext cx="1951348" cy="3354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200" dirty="0">
                <a:latin typeface="Times New Roman" panose="02020603050405020304" pitchFamily="18" charset="0"/>
                <a:cs typeface="Times New Roman" panose="02020603050405020304" pitchFamily="18" charset="0"/>
              </a:rPr>
              <a:t>python.speech.recognintion</a:t>
            </a:r>
            <a:endParaRPr lang="en-IN" sz="1200" dirty="0">
              <a:latin typeface="Times New Roman" panose="02020603050405020304" pitchFamily="18" charset="0"/>
              <a:cs typeface="Times New Roman" panose="02020603050405020304" pitchFamily="18" charset="0"/>
            </a:endParaRPr>
          </a:p>
        </p:txBody>
      </p:sp>
      <p:sp>
        <p:nvSpPr>
          <p:cNvPr id="15" name="Rectangle 14"/>
          <p:cNvSpPr/>
          <p:nvPr/>
        </p:nvSpPr>
        <p:spPr>
          <a:xfrm>
            <a:off x="8700940" y="3830736"/>
            <a:ext cx="1951348" cy="58477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open()</a:t>
            </a:r>
            <a:endParaRPr lang="en-IN" sz="1400" dirty="0">
              <a:latin typeface="Times New Roman" panose="02020603050405020304" pitchFamily="18" charset="0"/>
              <a:cs typeface="Times New Roman" panose="02020603050405020304" pitchFamily="18" charset="0"/>
            </a:endParaRPr>
          </a:p>
        </p:txBody>
      </p:sp>
      <p:sp>
        <p:nvSpPr>
          <p:cNvPr id="16" name="Rectangle 15"/>
          <p:cNvSpPr/>
          <p:nvPr/>
        </p:nvSpPr>
        <p:spPr>
          <a:xfrm>
            <a:off x="8700939" y="3544478"/>
            <a:ext cx="1951348" cy="2898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200" dirty="0">
                <a:latin typeface="Times New Roman" panose="02020603050405020304" pitchFamily="18" charset="0"/>
                <a:cs typeface="Times New Roman" panose="02020603050405020304" pitchFamily="18" charset="0"/>
              </a:rPr>
              <a:t>python.webbrowser</a:t>
            </a:r>
            <a:endParaRPr lang="en-IN" sz="1200" dirty="0">
              <a:latin typeface="Times New Roman" panose="02020603050405020304" pitchFamily="18" charset="0"/>
              <a:cs typeface="Times New Roman" panose="02020603050405020304" pitchFamily="18" charset="0"/>
            </a:endParaRPr>
          </a:p>
        </p:txBody>
      </p:sp>
      <p:sp>
        <p:nvSpPr>
          <p:cNvPr id="17" name="Rectangle 16"/>
          <p:cNvSpPr/>
          <p:nvPr/>
        </p:nvSpPr>
        <p:spPr>
          <a:xfrm>
            <a:off x="7277493" y="5244756"/>
            <a:ext cx="1951346" cy="10295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SMTP()</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ehlo()</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startls()</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login()</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close()</a:t>
            </a:r>
            <a:endParaRPr lang="en-IN" sz="1200" dirty="0">
              <a:latin typeface="Times New Roman" panose="02020603050405020304" pitchFamily="18" charset="0"/>
              <a:cs typeface="Times New Roman" panose="02020603050405020304" pitchFamily="18" charset="0"/>
            </a:endParaRPr>
          </a:p>
        </p:txBody>
      </p:sp>
      <p:sp>
        <p:nvSpPr>
          <p:cNvPr id="18" name="Rectangle 17"/>
          <p:cNvSpPr/>
          <p:nvPr/>
        </p:nvSpPr>
        <p:spPr>
          <a:xfrm>
            <a:off x="7277493" y="4891251"/>
            <a:ext cx="1951346" cy="3418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200" dirty="0">
                <a:latin typeface="Times New Roman" panose="02020603050405020304" pitchFamily="18" charset="0"/>
                <a:cs typeface="Times New Roman" panose="02020603050405020304" pitchFamily="18" charset="0"/>
              </a:rPr>
              <a:t>pyhton.smtplib</a:t>
            </a:r>
            <a:endParaRPr lang="en-IN" sz="1200" dirty="0">
              <a:latin typeface="Times New Roman" panose="02020603050405020304" pitchFamily="18" charset="0"/>
              <a:cs typeface="Times New Roman" panose="02020603050405020304" pitchFamily="18" charset="0"/>
            </a:endParaRPr>
          </a:p>
        </p:txBody>
      </p:sp>
      <p:sp>
        <p:nvSpPr>
          <p:cNvPr id="19" name="Rectangle 18"/>
          <p:cNvSpPr/>
          <p:nvPr/>
        </p:nvSpPr>
        <p:spPr>
          <a:xfrm>
            <a:off x="3186265" y="5508707"/>
            <a:ext cx="1951345" cy="7656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listDir()</a:t>
            </a:r>
            <a:endParaRPr lang="en-IN"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startFile()</a:t>
            </a:r>
            <a:endParaRPr lang="en-IN" sz="1400" dirty="0">
              <a:latin typeface="Times New Roman" panose="02020603050405020304" pitchFamily="18" charset="0"/>
              <a:cs typeface="Times New Roman" panose="02020603050405020304" pitchFamily="18" charset="0"/>
            </a:endParaRPr>
          </a:p>
        </p:txBody>
      </p:sp>
      <p:sp>
        <p:nvSpPr>
          <p:cNvPr id="20" name="Rectangle 19"/>
          <p:cNvSpPr/>
          <p:nvPr/>
        </p:nvSpPr>
        <p:spPr>
          <a:xfrm>
            <a:off x="3186265" y="5190239"/>
            <a:ext cx="1951344" cy="3184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400" dirty="0">
                <a:latin typeface="Times New Roman" panose="02020603050405020304" pitchFamily="18" charset="0"/>
                <a:cs typeface="Times New Roman" panose="02020603050405020304" pitchFamily="18" charset="0"/>
              </a:rPr>
              <a:t>python.os</a:t>
            </a:r>
            <a:endParaRPr lang="en-IN" sz="1400" dirty="0">
              <a:latin typeface="Times New Roman" panose="02020603050405020304" pitchFamily="18" charset="0"/>
              <a:cs typeface="Times New Roman" panose="02020603050405020304" pitchFamily="18" charset="0"/>
            </a:endParaRPr>
          </a:p>
        </p:txBody>
      </p:sp>
      <p:sp>
        <p:nvSpPr>
          <p:cNvPr id="21" name="Rectangle 20"/>
          <p:cNvSpPr/>
          <p:nvPr/>
        </p:nvSpPr>
        <p:spPr>
          <a:xfrm>
            <a:off x="1937209" y="3693577"/>
            <a:ext cx="1951344" cy="7279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summary()</a:t>
            </a:r>
            <a:endParaRPr lang="en-IN"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takeCommand()</a:t>
            </a:r>
            <a:endParaRPr lang="en-IN" sz="1400" dirty="0">
              <a:latin typeface="Times New Roman" panose="02020603050405020304" pitchFamily="18" charset="0"/>
              <a:cs typeface="Times New Roman" panose="02020603050405020304" pitchFamily="18" charset="0"/>
            </a:endParaRPr>
          </a:p>
        </p:txBody>
      </p:sp>
      <p:sp>
        <p:nvSpPr>
          <p:cNvPr id="22" name="Rectangle 21"/>
          <p:cNvSpPr/>
          <p:nvPr/>
        </p:nvSpPr>
        <p:spPr>
          <a:xfrm>
            <a:off x="1946630" y="3365395"/>
            <a:ext cx="1941923" cy="3184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400" dirty="0">
                <a:latin typeface="Times New Roman" panose="02020603050405020304" pitchFamily="18" charset="0"/>
                <a:cs typeface="Times New Roman" panose="02020603050405020304" pitchFamily="18" charset="0"/>
              </a:rPr>
              <a:t>python.wikipedia</a:t>
            </a:r>
            <a:endParaRPr lang="en-IN" sz="1400" dirty="0">
              <a:latin typeface="Times New Roman" panose="02020603050405020304" pitchFamily="18" charset="0"/>
              <a:cs typeface="Times New Roman" panose="02020603050405020304" pitchFamily="18" charset="0"/>
            </a:endParaRPr>
          </a:p>
        </p:txBody>
      </p:sp>
      <p:sp>
        <p:nvSpPr>
          <p:cNvPr id="23" name="Rectangle 22"/>
          <p:cNvSpPr/>
          <p:nvPr/>
        </p:nvSpPr>
        <p:spPr>
          <a:xfrm>
            <a:off x="1937208" y="2536097"/>
            <a:ext cx="1915217" cy="6283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datetime.now()</a:t>
            </a:r>
            <a:endParaRPr lang="en-IN" sz="1400" dirty="0">
              <a:latin typeface="Times New Roman" panose="02020603050405020304" pitchFamily="18" charset="0"/>
              <a:cs typeface="Times New Roman" panose="02020603050405020304" pitchFamily="18" charset="0"/>
            </a:endParaRPr>
          </a:p>
        </p:txBody>
      </p:sp>
      <p:sp>
        <p:nvSpPr>
          <p:cNvPr id="24" name="Rectangle 23"/>
          <p:cNvSpPr/>
          <p:nvPr/>
        </p:nvSpPr>
        <p:spPr>
          <a:xfrm>
            <a:off x="1937208" y="2200601"/>
            <a:ext cx="1915217" cy="3354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200" dirty="0">
                <a:latin typeface="Times New Roman" panose="02020603050405020304" pitchFamily="18" charset="0"/>
                <a:cs typeface="Times New Roman" panose="02020603050405020304" pitchFamily="18" charset="0"/>
              </a:rPr>
              <a:t>python.datatime</a:t>
            </a:r>
            <a:endParaRPr lang="en-IN" sz="1200" dirty="0">
              <a:latin typeface="Times New Roman" panose="02020603050405020304" pitchFamily="18" charset="0"/>
              <a:cs typeface="Times New Roman" panose="02020603050405020304" pitchFamily="18" charset="0"/>
            </a:endParaRPr>
          </a:p>
        </p:txBody>
      </p:sp>
      <p:sp>
        <p:nvSpPr>
          <p:cNvPr id="25" name="Rectangle 24"/>
          <p:cNvSpPr/>
          <p:nvPr/>
        </p:nvSpPr>
        <p:spPr>
          <a:xfrm>
            <a:off x="5285295" y="858234"/>
            <a:ext cx="1951344" cy="8646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init ()</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getProperty()</a:t>
            </a:r>
            <a:endParaRPr lang="en-IN"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setProperty()</a:t>
            </a:r>
            <a:endParaRPr lang="en-IN" sz="1200" dirty="0">
              <a:latin typeface="Times New Roman" panose="02020603050405020304" pitchFamily="18" charset="0"/>
              <a:cs typeface="Times New Roman" panose="02020603050405020304" pitchFamily="18" charset="0"/>
            </a:endParaRPr>
          </a:p>
        </p:txBody>
      </p:sp>
      <p:sp>
        <p:nvSpPr>
          <p:cNvPr id="26" name="Rectangle 25"/>
          <p:cNvSpPr/>
          <p:nvPr/>
        </p:nvSpPr>
        <p:spPr>
          <a:xfrm>
            <a:off x="5285295" y="480767"/>
            <a:ext cx="1951344" cy="3774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400" dirty="0">
                <a:latin typeface="Times New Roman" panose="02020603050405020304" pitchFamily="18" charset="0"/>
                <a:cs typeface="Times New Roman" panose="02020603050405020304" pitchFamily="18" charset="0"/>
              </a:rPr>
              <a:t>python.pyttsx3</a:t>
            </a:r>
            <a:endParaRPr lang="en-IN" sz="1400" dirty="0">
              <a:latin typeface="Times New Roman" panose="02020603050405020304" pitchFamily="18" charset="0"/>
              <a:cs typeface="Times New Roman" panose="02020603050405020304" pitchFamily="18" charset="0"/>
            </a:endParaRPr>
          </a:p>
        </p:txBody>
      </p:sp>
      <p:sp>
        <p:nvSpPr>
          <p:cNvPr id="27" name="Rectangle 26"/>
          <p:cNvSpPr/>
          <p:nvPr/>
        </p:nvSpPr>
        <p:spPr>
          <a:xfrm>
            <a:off x="8700940" y="1228079"/>
            <a:ext cx="1951347" cy="49522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IN">
              <a:latin typeface="Times New Roman" panose="02020603050405020304" pitchFamily="18" charset="0"/>
              <a:cs typeface="Times New Roman" panose="02020603050405020304" pitchFamily="18" charset="0"/>
            </a:endParaRPr>
          </a:p>
        </p:txBody>
      </p:sp>
      <p:sp>
        <p:nvSpPr>
          <p:cNvPr id="28" name="Rectangle 27"/>
          <p:cNvSpPr/>
          <p:nvPr/>
        </p:nvSpPr>
        <p:spPr>
          <a:xfrm>
            <a:off x="8700941" y="858235"/>
            <a:ext cx="1951346" cy="369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sz="1400" dirty="0">
                <a:latin typeface="Times New Roman" panose="02020603050405020304" pitchFamily="18" charset="0"/>
                <a:cs typeface="Times New Roman" panose="02020603050405020304" pitchFamily="18" charset="0"/>
              </a:rPr>
              <a:t>python.pypiwin32</a:t>
            </a:r>
            <a:endParaRPr lang="en-IN" sz="1400" dirty="0">
              <a:latin typeface="Times New Roman" panose="02020603050405020304" pitchFamily="18" charset="0"/>
              <a:cs typeface="Times New Roman" panose="02020603050405020304" pitchFamily="18" charset="0"/>
            </a:endParaRPr>
          </a:p>
        </p:txBody>
      </p:sp>
      <p:cxnSp>
        <p:nvCxnSpPr>
          <p:cNvPr id="29" name="Straight Connector 28"/>
          <p:cNvCxnSpPr/>
          <p:nvPr/>
        </p:nvCxnSpPr>
        <p:spPr>
          <a:xfrm>
            <a:off x="7257066" y="1474235"/>
            <a:ext cx="1423447" cy="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2" idx="0"/>
          </p:cNvCxnSpPr>
          <p:nvPr/>
        </p:nvCxnSpPr>
        <p:spPr>
          <a:xfrm flipH="1" flipV="1">
            <a:off x="6275108" y="1722926"/>
            <a:ext cx="6286" cy="697452"/>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p:cNvCxnSpPr/>
          <p:nvPr/>
        </p:nvCxnSpPr>
        <p:spPr>
          <a:xfrm flipV="1">
            <a:off x="7286917" y="3102454"/>
            <a:ext cx="1423446" cy="1624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p:cNvCxnSpPr/>
          <p:nvPr/>
        </p:nvCxnSpPr>
        <p:spPr>
          <a:xfrm>
            <a:off x="7286917" y="3980609"/>
            <a:ext cx="1423446" cy="0"/>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p:cNvCxnSpPr/>
          <p:nvPr/>
        </p:nvCxnSpPr>
        <p:spPr>
          <a:xfrm flipH="1">
            <a:off x="3825719" y="2871593"/>
            <a:ext cx="1450154" cy="13805"/>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p:cNvCxnSpPr/>
          <p:nvPr/>
        </p:nvCxnSpPr>
        <p:spPr>
          <a:xfrm flipH="1">
            <a:off x="3901905" y="3896732"/>
            <a:ext cx="1410095" cy="10566"/>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63" name="Straight Connector 62"/>
          <p:cNvCxnSpPr/>
          <p:nvPr/>
        </p:nvCxnSpPr>
        <p:spPr>
          <a:xfrm>
            <a:off x="6561056" y="4166195"/>
            <a:ext cx="0" cy="415232"/>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65" name="Straight Connector 64"/>
          <p:cNvCxnSpPr/>
          <p:nvPr/>
        </p:nvCxnSpPr>
        <p:spPr>
          <a:xfrm>
            <a:off x="6553199" y="4581427"/>
            <a:ext cx="1407733"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67" name="Straight Connector 66"/>
          <p:cNvCxnSpPr/>
          <p:nvPr/>
        </p:nvCxnSpPr>
        <p:spPr>
          <a:xfrm>
            <a:off x="5656082" y="4166195"/>
            <a:ext cx="0" cy="595229"/>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69" name="Straight Connector 68"/>
          <p:cNvCxnSpPr/>
          <p:nvPr/>
        </p:nvCxnSpPr>
        <p:spPr>
          <a:xfrm flipH="1" flipV="1">
            <a:off x="4161937" y="4758284"/>
            <a:ext cx="1494145" cy="12924"/>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78" name="Straight Arrow Connector 77"/>
          <p:cNvCxnSpPr/>
          <p:nvPr/>
        </p:nvCxnSpPr>
        <p:spPr>
          <a:xfrm flipH="1">
            <a:off x="7960932" y="4581427"/>
            <a:ext cx="7857" cy="309824"/>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81" name="Straight Arrow Connector 80"/>
          <p:cNvCxnSpPr>
            <a:endCxn id="20" idx="0"/>
          </p:cNvCxnSpPr>
          <p:nvPr/>
        </p:nvCxnSpPr>
        <p:spPr>
          <a:xfrm>
            <a:off x="4161937" y="4758284"/>
            <a:ext cx="0" cy="431955"/>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82" name="TextBox 81"/>
          <p:cNvSpPr txBox="1"/>
          <p:nvPr/>
        </p:nvSpPr>
        <p:spPr>
          <a:xfrm>
            <a:off x="682625" y="583565"/>
            <a:ext cx="3924300" cy="768350"/>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Class Diagram</a:t>
            </a:r>
            <a:endParaRPr lang="en-US" sz="4400" b="1" dirty="0">
              <a:latin typeface="Times New Roman" panose="02020603050405020304" pitchFamily="18" charset="0"/>
              <a:cs typeface="Times New Roman" panose="02020603050405020304" pitchFamily="18" charset="0"/>
            </a:endParaRPr>
          </a:p>
        </p:txBody>
      </p:sp>
      <p:sp>
        <p:nvSpPr>
          <p:cNvPr id="83" name="Rectangle 82"/>
          <p:cNvSpPr/>
          <p:nvPr/>
        </p:nvSpPr>
        <p:spPr>
          <a:xfrm>
            <a:off x="0" y="6482281"/>
            <a:ext cx="12192000" cy="298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5459690" y="405354"/>
            <a:ext cx="619027" cy="47134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p:cNvSpPr/>
          <p:nvPr/>
        </p:nvSpPr>
        <p:spPr>
          <a:xfrm>
            <a:off x="4383464" y="1197205"/>
            <a:ext cx="2771480" cy="30165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Listening for Wake Word</a:t>
            </a:r>
            <a:endParaRPr lang="en-IN" sz="1400"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4336329" y="1767528"/>
            <a:ext cx="2865748" cy="4524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User Input Detected</a:t>
            </a: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(Voice Command)</a:t>
            </a:r>
            <a:endParaRPr lang="en-IN" sz="1400" dirty="0">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4303333" y="2450971"/>
            <a:ext cx="2931736" cy="62688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Process Voice Input</a:t>
            </a: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(Speech-to-Text &amp; NLU)</a:t>
            </a:r>
            <a:endParaRPr lang="en-IN" sz="1400" dirty="0">
              <a:latin typeface="Times New Roman" panose="02020603050405020304" pitchFamily="18" charset="0"/>
              <a:cs typeface="Times New Roman" panose="02020603050405020304" pitchFamily="18" charset="0"/>
            </a:endParaRPr>
          </a:p>
        </p:txBody>
      </p:sp>
      <p:sp>
        <p:nvSpPr>
          <p:cNvPr id="9" name="Diamond 8"/>
          <p:cNvSpPr/>
          <p:nvPr/>
        </p:nvSpPr>
        <p:spPr>
          <a:xfrm>
            <a:off x="4807669" y="3308810"/>
            <a:ext cx="1923068" cy="62688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Intent</a:t>
            </a: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Identified?</a:t>
            </a:r>
            <a:endParaRPr lang="en-IN" sz="1400" dirty="0">
              <a:latin typeface="Times New Roman" panose="02020603050405020304" pitchFamily="18" charset="0"/>
              <a:cs typeface="Times New Roman" panose="02020603050405020304" pitchFamily="18" charset="0"/>
            </a:endParaRPr>
          </a:p>
        </p:txBody>
      </p:sp>
      <p:sp>
        <p:nvSpPr>
          <p:cNvPr id="10" name="Rectangle 9"/>
          <p:cNvSpPr/>
          <p:nvPr/>
        </p:nvSpPr>
        <p:spPr>
          <a:xfrm>
            <a:off x="1206631" y="4524870"/>
            <a:ext cx="3591612" cy="30165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Execute Device Action(IOT)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7777113" y="3441961"/>
            <a:ext cx="3082565" cy="3770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Generate Error Response</a:t>
            </a:r>
            <a:endParaRPr lang="en-IN" sz="1400" dirty="0">
              <a:latin typeface="Times New Roman" panose="02020603050405020304" pitchFamily="18" charset="0"/>
              <a:cs typeface="Times New Roman" panose="02020603050405020304" pitchFamily="18" charset="0"/>
            </a:endParaRPr>
          </a:p>
        </p:txBody>
      </p:sp>
      <p:sp>
        <p:nvSpPr>
          <p:cNvPr id="12" name="Rectangle 11"/>
          <p:cNvSpPr/>
          <p:nvPr/>
        </p:nvSpPr>
        <p:spPr>
          <a:xfrm>
            <a:off x="7903589" y="4491869"/>
            <a:ext cx="2614367" cy="3770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Retrieve Information (web/DB)</a:t>
            </a:r>
            <a:endParaRPr lang="en-IN" sz="1400" dirty="0">
              <a:latin typeface="Times New Roman" panose="02020603050405020304" pitchFamily="18" charset="0"/>
              <a:cs typeface="Times New Roman" panose="02020603050405020304" pitchFamily="18" charset="0"/>
            </a:endParaRPr>
          </a:p>
        </p:txBody>
      </p:sp>
      <p:sp>
        <p:nvSpPr>
          <p:cNvPr id="13" name="Rectangle 12"/>
          <p:cNvSpPr/>
          <p:nvPr/>
        </p:nvSpPr>
        <p:spPr>
          <a:xfrm>
            <a:off x="4190211" y="5326135"/>
            <a:ext cx="3157979" cy="5184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Generate Natural Language Response</a:t>
            </a: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(Text-to-Speech)</a:t>
            </a:r>
            <a:endParaRPr lang="en-IN" sz="1400" dirty="0">
              <a:latin typeface="Times New Roman" panose="02020603050405020304" pitchFamily="18" charset="0"/>
              <a:cs typeface="Times New Roman" panose="02020603050405020304" pitchFamily="18" charset="0"/>
            </a:endParaRPr>
          </a:p>
        </p:txBody>
      </p:sp>
      <p:sp>
        <p:nvSpPr>
          <p:cNvPr id="14" name="Oval 13"/>
          <p:cNvSpPr/>
          <p:nvPr/>
        </p:nvSpPr>
        <p:spPr>
          <a:xfrm>
            <a:off x="5562610" y="6122700"/>
            <a:ext cx="413180" cy="37320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5" name="Oval 14"/>
          <p:cNvSpPr/>
          <p:nvPr/>
        </p:nvSpPr>
        <p:spPr>
          <a:xfrm>
            <a:off x="5632910" y="6179680"/>
            <a:ext cx="272579" cy="25924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16" name="Straight Arrow Connector 15"/>
          <p:cNvCxnSpPr/>
          <p:nvPr/>
        </p:nvCxnSpPr>
        <p:spPr>
          <a:xfrm>
            <a:off x="5769204" y="876694"/>
            <a:ext cx="0" cy="320511"/>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p:cNvCxnSpPr/>
          <p:nvPr/>
        </p:nvCxnSpPr>
        <p:spPr>
          <a:xfrm flipH="1">
            <a:off x="5769201" y="1498863"/>
            <a:ext cx="3" cy="268664"/>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p:cNvCxnSpPr/>
          <p:nvPr/>
        </p:nvCxnSpPr>
        <p:spPr>
          <a:xfrm flipH="1">
            <a:off x="5769201" y="2220014"/>
            <a:ext cx="2" cy="23095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p:cNvCxnSpPr/>
          <p:nvPr/>
        </p:nvCxnSpPr>
        <p:spPr>
          <a:xfrm>
            <a:off x="5769201" y="3077853"/>
            <a:ext cx="2" cy="23095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1649691" y="3631679"/>
            <a:ext cx="3148552"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a:off x="6730737" y="3622251"/>
            <a:ext cx="1046376" cy="824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1649691" y="3622251"/>
            <a:ext cx="0" cy="902619"/>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3015793" y="4196107"/>
            <a:ext cx="6194981" cy="65988"/>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a:off x="3029933" y="4213786"/>
            <a:ext cx="0" cy="311084"/>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p:cNvCxnSpPr/>
          <p:nvPr/>
        </p:nvCxnSpPr>
        <p:spPr>
          <a:xfrm>
            <a:off x="9210773" y="4232631"/>
            <a:ext cx="1" cy="240384"/>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3029933" y="5076329"/>
            <a:ext cx="6198124"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27" name="Straight Arrow Connector 26"/>
          <p:cNvCxnSpPr/>
          <p:nvPr/>
        </p:nvCxnSpPr>
        <p:spPr>
          <a:xfrm>
            <a:off x="3029933" y="4844202"/>
            <a:ext cx="0" cy="24509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p:cNvCxnSpPr/>
          <p:nvPr/>
        </p:nvCxnSpPr>
        <p:spPr>
          <a:xfrm flipH="1">
            <a:off x="9210772" y="4868942"/>
            <a:ext cx="1" cy="20738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p:cNvCxnSpPr/>
          <p:nvPr/>
        </p:nvCxnSpPr>
        <p:spPr>
          <a:xfrm>
            <a:off x="5769201" y="5076329"/>
            <a:ext cx="0" cy="230959"/>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p:cNvCxnSpPr/>
          <p:nvPr/>
        </p:nvCxnSpPr>
        <p:spPr>
          <a:xfrm flipH="1">
            <a:off x="5769200" y="5844609"/>
            <a:ext cx="1" cy="278092"/>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p:cNvCxnSpPr/>
          <p:nvPr/>
        </p:nvCxnSpPr>
        <p:spPr>
          <a:xfrm>
            <a:off x="5769201" y="3935692"/>
            <a:ext cx="0" cy="293409"/>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32" name="TextBox 31"/>
          <p:cNvSpPr txBox="1"/>
          <p:nvPr/>
        </p:nvSpPr>
        <p:spPr>
          <a:xfrm>
            <a:off x="6134511" y="487135"/>
            <a:ext cx="596226" cy="307777"/>
          </a:xfrm>
          <a:prstGeom prst="rect">
            <a:avLst/>
          </a:prstGeom>
          <a:noFill/>
        </p:spPr>
        <p:txBody>
          <a:bodyPr wrap="square">
            <a:spAutoFit/>
          </a:bodyPr>
          <a:lstStyle/>
          <a:p>
            <a:r>
              <a:rPr lang="en-US" sz="1400" dirty="0">
                <a:solidFill>
                  <a:schemeClr val="accent5">
                    <a:lumMod val="75000"/>
                  </a:schemeClr>
                </a:solidFill>
                <a:latin typeface="Times New Roman" panose="02020603050405020304" pitchFamily="18" charset="0"/>
                <a:cs typeface="Times New Roman" panose="02020603050405020304" pitchFamily="18" charset="0"/>
              </a:rPr>
              <a:t>Start</a:t>
            </a:r>
            <a:endParaRPr lang="en-IN" sz="1400" dirty="0">
              <a:solidFill>
                <a:schemeClr val="accent5">
                  <a:lumMod val="75000"/>
                </a:schemeClr>
              </a:solidFill>
            </a:endParaRPr>
          </a:p>
        </p:txBody>
      </p:sp>
      <p:sp>
        <p:nvSpPr>
          <p:cNvPr id="33" name="TextBox 32"/>
          <p:cNvSpPr txBox="1"/>
          <p:nvPr/>
        </p:nvSpPr>
        <p:spPr>
          <a:xfrm flipH="1">
            <a:off x="2488683" y="3258479"/>
            <a:ext cx="2799752" cy="276999"/>
          </a:xfrm>
          <a:prstGeom prst="rect">
            <a:avLst/>
          </a:prstGeom>
          <a:noFill/>
        </p:spPr>
        <p:txBody>
          <a:bodyPr wrap="square">
            <a:spAutoFit/>
          </a:bodyPr>
          <a:lstStyle/>
          <a:p>
            <a:r>
              <a:rPr lang="en-US" sz="1200" dirty="0">
                <a:solidFill>
                  <a:schemeClr val="accent5">
                    <a:lumMod val="75000"/>
                  </a:schemeClr>
                </a:solidFill>
                <a:latin typeface="Times New Roman" panose="02020603050405020304" pitchFamily="18" charset="0"/>
                <a:cs typeface="Times New Roman" panose="02020603050405020304" pitchFamily="18" charset="0"/>
              </a:rPr>
              <a:t>No (Unknown/Error)</a:t>
            </a:r>
            <a:endParaRPr lang="en-IN" sz="1200" dirty="0">
              <a:solidFill>
                <a:schemeClr val="accent5">
                  <a:lumMod val="75000"/>
                </a:schemeClr>
              </a:solidFill>
            </a:endParaRPr>
          </a:p>
        </p:txBody>
      </p:sp>
      <p:sp>
        <p:nvSpPr>
          <p:cNvPr id="34" name="TextBox 33"/>
          <p:cNvSpPr txBox="1"/>
          <p:nvPr/>
        </p:nvSpPr>
        <p:spPr>
          <a:xfrm>
            <a:off x="6572645" y="3086676"/>
            <a:ext cx="1468220" cy="405367"/>
          </a:xfrm>
          <a:prstGeom prst="rect">
            <a:avLst/>
          </a:prstGeom>
          <a:noFill/>
        </p:spPr>
        <p:txBody>
          <a:bodyPr wrap="square">
            <a:spAutoFit/>
          </a:bodyPr>
          <a:lstStyle/>
          <a:p>
            <a:pPr marR="0" lvl="0" algn="l" defTabSz="914400" rtl="0" eaLnBrk="0" fontAlgn="base" latinLnBrk="0" hangingPunct="0">
              <a:lnSpc>
                <a:spcPct val="200000"/>
              </a:lnSpc>
              <a:spcBef>
                <a:spcPct val="0"/>
              </a:spcBef>
              <a:spcAft>
                <a:spcPct val="0"/>
              </a:spcAft>
              <a:buClrTx/>
              <a:buSzTx/>
            </a:pPr>
            <a:r>
              <a:rPr lang="en-US" altLang="en-US" sz="1200" dirty="0">
                <a:solidFill>
                  <a:schemeClr val="accent5">
                    <a:lumMod val="75000"/>
                  </a:schemeClr>
                </a:solidFill>
                <a:latin typeface="Times New Roman" panose="02020603050405020304" pitchFamily="18" charset="0"/>
                <a:cs typeface="Times New Roman" panose="02020603050405020304" pitchFamily="18" charset="0"/>
              </a:rPr>
              <a:t>Yes ( Error)</a:t>
            </a:r>
            <a:endParaRPr kumimoji="0" lang="en-US" altLang="en-US" sz="1200" b="0" i="0" u="none" strike="noStrike" cap="none" normalizeH="0" baseline="0" dirty="0">
              <a:ln>
                <a:noFill/>
              </a:ln>
              <a:solidFill>
                <a:schemeClr val="accent5">
                  <a:lumMod val="75000"/>
                </a:schemeClr>
              </a:solidFill>
              <a:effectLst/>
              <a:latin typeface="Times New Roman" panose="02020603050405020304" pitchFamily="18" charset="0"/>
              <a:cs typeface="Times New Roman" panose="02020603050405020304" pitchFamily="18" charset="0"/>
            </a:endParaRPr>
          </a:p>
        </p:txBody>
      </p:sp>
      <p:sp>
        <p:nvSpPr>
          <p:cNvPr id="35" name="TextBox 34"/>
          <p:cNvSpPr txBox="1"/>
          <p:nvPr/>
        </p:nvSpPr>
        <p:spPr>
          <a:xfrm>
            <a:off x="6595125" y="3917926"/>
            <a:ext cx="1571919" cy="276999"/>
          </a:xfrm>
          <a:prstGeom prst="rect">
            <a:avLst/>
          </a:prstGeom>
          <a:noFill/>
        </p:spPr>
        <p:txBody>
          <a:bodyPr wrap="square">
            <a:spAutoFit/>
          </a:bodyPr>
          <a:lstStyle/>
          <a:p>
            <a:r>
              <a:rPr lang="en-US" altLang="en-US" sz="1200" dirty="0">
                <a:solidFill>
                  <a:schemeClr val="accent5">
                    <a:lumMod val="75000"/>
                  </a:schemeClr>
                </a:solidFill>
                <a:latin typeface="Times New Roman" panose="02020603050405020304" pitchFamily="18" charset="0"/>
                <a:cs typeface="Times New Roman" panose="02020603050405020304" pitchFamily="18" charset="0"/>
              </a:rPr>
              <a:t>Yes (Action/Query)</a:t>
            </a:r>
            <a:endParaRPr lang="en-IN" sz="1200" dirty="0">
              <a:solidFill>
                <a:schemeClr val="accent5">
                  <a:lumMod val="75000"/>
                </a:schemeClr>
              </a:solidFill>
            </a:endParaRPr>
          </a:p>
        </p:txBody>
      </p:sp>
      <p:sp>
        <p:nvSpPr>
          <p:cNvPr id="36" name="TextBox 35"/>
          <p:cNvSpPr txBox="1"/>
          <p:nvPr/>
        </p:nvSpPr>
        <p:spPr>
          <a:xfrm>
            <a:off x="6128995" y="6001533"/>
            <a:ext cx="887301" cy="369332"/>
          </a:xfrm>
          <a:prstGeom prst="rect">
            <a:avLst/>
          </a:prstGeom>
          <a:noFill/>
        </p:spPr>
        <p:txBody>
          <a:bodyPr wrap="square">
            <a:spAutoFit/>
          </a:bodyPr>
          <a:lstStyle/>
          <a:p>
            <a:r>
              <a:rPr lang="en-US" dirty="0">
                <a:solidFill>
                  <a:schemeClr val="accent5">
                    <a:lumMod val="75000"/>
                  </a:schemeClr>
                </a:solidFill>
                <a:latin typeface="Times New Roman" panose="02020603050405020304" pitchFamily="18" charset="0"/>
                <a:cs typeface="Times New Roman" panose="02020603050405020304" pitchFamily="18" charset="0"/>
              </a:rPr>
              <a:t>End</a:t>
            </a:r>
            <a:endParaRPr lang="en-US"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8" name="TextBox 37"/>
          <p:cNvSpPr txBox="1"/>
          <p:nvPr/>
        </p:nvSpPr>
        <p:spPr>
          <a:xfrm>
            <a:off x="386715" y="476250"/>
            <a:ext cx="4531995" cy="706755"/>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Use Case Diagram</a:t>
            </a:r>
            <a:endParaRPr lang="en-US" sz="4000" b="1" dirty="0">
              <a:latin typeface="Times New Roman" panose="02020603050405020304" pitchFamily="18" charset="0"/>
              <a:cs typeface="Times New Roman" panose="02020603050405020304" pitchFamily="18" charset="0"/>
            </a:endParaRPr>
          </a:p>
        </p:txBody>
      </p:sp>
      <p:sp>
        <p:nvSpPr>
          <p:cNvPr id="39" name="Rectangle 38"/>
          <p:cNvSpPr/>
          <p:nvPr/>
        </p:nvSpPr>
        <p:spPr>
          <a:xfrm>
            <a:off x="0" y="6495905"/>
            <a:ext cx="12192000" cy="285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482281"/>
            <a:ext cx="12192000" cy="298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Oval 1"/>
          <p:cNvSpPr/>
          <p:nvPr/>
        </p:nvSpPr>
        <p:spPr>
          <a:xfrm>
            <a:off x="2875175" y="273377"/>
            <a:ext cx="273378" cy="29876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p:cNvSpPr/>
          <p:nvPr/>
        </p:nvSpPr>
        <p:spPr>
          <a:xfrm>
            <a:off x="2507530" y="763924"/>
            <a:ext cx="1055792" cy="2659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start</a:t>
            </a:r>
            <a:endParaRPr lang="en-IN" sz="1400" dirty="0"/>
          </a:p>
        </p:txBody>
      </p:sp>
      <p:sp>
        <p:nvSpPr>
          <p:cNvPr id="4" name="Rectangle 3"/>
          <p:cNvSpPr/>
          <p:nvPr/>
        </p:nvSpPr>
        <p:spPr>
          <a:xfrm>
            <a:off x="1842942" y="1215171"/>
            <a:ext cx="2318992" cy="245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Initialize JARVIS System</a:t>
            </a:r>
            <a:endParaRPr lang="en-IN" sz="1400" dirty="0"/>
          </a:p>
        </p:txBody>
      </p:sp>
      <p:sp>
        <p:nvSpPr>
          <p:cNvPr id="6" name="Rectangle 5"/>
          <p:cNvSpPr/>
          <p:nvPr/>
        </p:nvSpPr>
        <p:spPr>
          <a:xfrm>
            <a:off x="1316609" y="1646026"/>
            <a:ext cx="3365368" cy="245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Activate Passive Listening Mode</a:t>
            </a:r>
            <a:endParaRPr lang="en-IN" sz="1400" dirty="0"/>
          </a:p>
        </p:txBody>
      </p:sp>
      <p:sp>
        <p:nvSpPr>
          <p:cNvPr id="7" name="Rectangle 6"/>
          <p:cNvSpPr/>
          <p:nvPr/>
        </p:nvSpPr>
        <p:spPr>
          <a:xfrm>
            <a:off x="2007908" y="2072168"/>
            <a:ext cx="2154026" cy="1979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Detect Wake Word</a:t>
            </a:r>
            <a:endParaRPr lang="en-IN" sz="1400" dirty="0"/>
          </a:p>
        </p:txBody>
      </p:sp>
      <p:sp>
        <p:nvSpPr>
          <p:cNvPr id="8" name="Rectangle 7"/>
          <p:cNvSpPr/>
          <p:nvPr/>
        </p:nvSpPr>
        <p:spPr>
          <a:xfrm>
            <a:off x="331508" y="3155089"/>
            <a:ext cx="1970202" cy="23277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Continue Listing</a:t>
            </a:r>
            <a:endParaRPr lang="en-IN" sz="1400" dirty="0"/>
          </a:p>
        </p:txBody>
      </p:sp>
      <p:sp>
        <p:nvSpPr>
          <p:cNvPr id="9" name="Rectangle 8"/>
          <p:cNvSpPr/>
          <p:nvPr/>
        </p:nvSpPr>
        <p:spPr>
          <a:xfrm>
            <a:off x="3373224" y="3151400"/>
            <a:ext cx="2722776"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Capture User Voice Command</a:t>
            </a:r>
            <a:endParaRPr lang="en-IN" sz="1400" dirty="0"/>
          </a:p>
        </p:txBody>
      </p:sp>
      <p:sp>
        <p:nvSpPr>
          <p:cNvPr id="10" name="Rectangle 9"/>
          <p:cNvSpPr/>
          <p:nvPr/>
        </p:nvSpPr>
        <p:spPr>
          <a:xfrm>
            <a:off x="1962346" y="3489468"/>
            <a:ext cx="2099033" cy="2534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Convert Speech to Text</a:t>
            </a:r>
            <a:endParaRPr lang="en-IN" sz="1400" dirty="0"/>
          </a:p>
        </p:txBody>
      </p:sp>
      <p:sp>
        <p:nvSpPr>
          <p:cNvPr id="11" name="Rectangle 10"/>
          <p:cNvSpPr/>
          <p:nvPr/>
        </p:nvSpPr>
        <p:spPr>
          <a:xfrm>
            <a:off x="1940335" y="3988290"/>
            <a:ext cx="2099033" cy="2365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Type of Task?</a:t>
            </a:r>
            <a:endParaRPr lang="en-IN" sz="1400" dirty="0"/>
          </a:p>
        </p:txBody>
      </p:sp>
      <p:sp>
        <p:nvSpPr>
          <p:cNvPr id="12" name="Rectangle 11"/>
          <p:cNvSpPr/>
          <p:nvPr/>
        </p:nvSpPr>
        <p:spPr>
          <a:xfrm>
            <a:off x="1949772" y="4224877"/>
            <a:ext cx="2099033" cy="5913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IN" sz="1400" dirty="0"/>
              <a:t>File  Management</a:t>
            </a:r>
            <a:endParaRPr lang="en-IN" sz="1400" dirty="0"/>
          </a:p>
          <a:p>
            <a:pPr marL="285750" indent="-285750">
              <a:buFont typeface="Arial" panose="020B0604020202020204" pitchFamily="34" charset="0"/>
              <a:buChar char="•"/>
            </a:pPr>
            <a:r>
              <a:rPr lang="en-IN" sz="1400" dirty="0"/>
              <a:t>Open Programs</a:t>
            </a:r>
            <a:endParaRPr lang="en-IN" sz="1400" dirty="0"/>
          </a:p>
          <a:p>
            <a:pPr marL="285750" indent="-285750">
              <a:buFont typeface="Arial" panose="020B0604020202020204" pitchFamily="34" charset="0"/>
              <a:buChar char="•"/>
            </a:pPr>
            <a:r>
              <a:rPr lang="en-IN" sz="1400" dirty="0"/>
              <a:t>Control Media</a:t>
            </a:r>
            <a:endParaRPr lang="en-IN" sz="1400" dirty="0"/>
          </a:p>
        </p:txBody>
      </p:sp>
      <p:cxnSp>
        <p:nvCxnSpPr>
          <p:cNvPr id="16" name="Straight Arrow Connector 15"/>
          <p:cNvCxnSpPr/>
          <p:nvPr/>
        </p:nvCxnSpPr>
        <p:spPr>
          <a:xfrm>
            <a:off x="3011863" y="1009163"/>
            <a:ext cx="0" cy="18529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p:cNvCxnSpPr/>
          <p:nvPr/>
        </p:nvCxnSpPr>
        <p:spPr>
          <a:xfrm>
            <a:off x="3011863" y="1460410"/>
            <a:ext cx="0" cy="18529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0" name="Straight Arrow Connector 19"/>
          <p:cNvCxnSpPr/>
          <p:nvPr/>
        </p:nvCxnSpPr>
        <p:spPr>
          <a:xfrm>
            <a:off x="2999293" y="1460735"/>
            <a:ext cx="0" cy="18529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p:cNvCxnSpPr/>
          <p:nvPr/>
        </p:nvCxnSpPr>
        <p:spPr>
          <a:xfrm>
            <a:off x="2999293" y="1891590"/>
            <a:ext cx="0" cy="18529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22" name="Flowchart: Decision 21"/>
          <p:cNvSpPr/>
          <p:nvPr/>
        </p:nvSpPr>
        <p:spPr>
          <a:xfrm>
            <a:off x="1769880" y="2471064"/>
            <a:ext cx="2458825" cy="566610"/>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Wake Word Detected?</a:t>
            </a:r>
            <a:endParaRPr lang="en-IN" sz="1400" dirty="0"/>
          </a:p>
        </p:txBody>
      </p:sp>
      <p:cxnSp>
        <p:nvCxnSpPr>
          <p:cNvPr id="23" name="Straight Arrow Connector 22"/>
          <p:cNvCxnSpPr/>
          <p:nvPr/>
        </p:nvCxnSpPr>
        <p:spPr>
          <a:xfrm>
            <a:off x="2999293" y="2270131"/>
            <a:ext cx="0" cy="18529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24" name="Straight Arrow Connector 23"/>
          <p:cNvCxnSpPr/>
          <p:nvPr/>
        </p:nvCxnSpPr>
        <p:spPr>
          <a:xfrm flipH="1">
            <a:off x="2999289" y="3037674"/>
            <a:ext cx="4" cy="460214"/>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p:cNvCxnSpPr/>
          <p:nvPr/>
        </p:nvCxnSpPr>
        <p:spPr>
          <a:xfrm>
            <a:off x="2989852" y="3750082"/>
            <a:ext cx="9437" cy="23102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31" name="Straight Connector 30"/>
          <p:cNvCxnSpPr/>
          <p:nvPr/>
        </p:nvCxnSpPr>
        <p:spPr>
          <a:xfrm>
            <a:off x="4217707" y="2754369"/>
            <a:ext cx="663806" cy="937"/>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cxnSp>
        <p:nvCxnSpPr>
          <p:cNvPr id="32" name="Straight Connector 31"/>
          <p:cNvCxnSpPr/>
          <p:nvPr/>
        </p:nvCxnSpPr>
        <p:spPr>
          <a:xfrm flipV="1">
            <a:off x="1106074" y="2750680"/>
            <a:ext cx="785563" cy="4626"/>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cxnSp>
        <p:nvCxnSpPr>
          <p:cNvPr id="33" name="Straight Arrow Connector 32"/>
          <p:cNvCxnSpPr/>
          <p:nvPr/>
        </p:nvCxnSpPr>
        <p:spPr>
          <a:xfrm>
            <a:off x="4881513" y="2754369"/>
            <a:ext cx="0" cy="39703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36" name="Straight Arrow Connector 35"/>
          <p:cNvCxnSpPr/>
          <p:nvPr/>
        </p:nvCxnSpPr>
        <p:spPr>
          <a:xfrm>
            <a:off x="1106073" y="2754369"/>
            <a:ext cx="10999" cy="39703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47" name="Straight Arrow Connector 46"/>
          <p:cNvCxnSpPr/>
          <p:nvPr/>
        </p:nvCxnSpPr>
        <p:spPr>
          <a:xfrm>
            <a:off x="3011862" y="4826862"/>
            <a:ext cx="9437" cy="23102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48" name="Rectangle 47"/>
          <p:cNvSpPr/>
          <p:nvPr/>
        </p:nvSpPr>
        <p:spPr>
          <a:xfrm>
            <a:off x="1949772" y="5081047"/>
            <a:ext cx="2089596" cy="3162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Execute System Command</a:t>
            </a:r>
            <a:endParaRPr lang="en-IN" sz="1400" dirty="0"/>
          </a:p>
        </p:txBody>
      </p:sp>
      <p:sp>
        <p:nvSpPr>
          <p:cNvPr id="49" name="Rectangle 48"/>
          <p:cNvSpPr/>
          <p:nvPr/>
        </p:nvSpPr>
        <p:spPr>
          <a:xfrm>
            <a:off x="6909847" y="3151400"/>
            <a:ext cx="2630079"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Convert Speech to the Command</a:t>
            </a:r>
            <a:endParaRPr lang="en-IN" sz="1400" dirty="0"/>
          </a:p>
        </p:txBody>
      </p:sp>
      <p:sp>
        <p:nvSpPr>
          <p:cNvPr id="52" name="Rectangle 51"/>
          <p:cNvSpPr/>
          <p:nvPr/>
        </p:nvSpPr>
        <p:spPr>
          <a:xfrm>
            <a:off x="5594807" y="3533417"/>
            <a:ext cx="2630079"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Offline Task</a:t>
            </a:r>
            <a:endParaRPr lang="en-IN" sz="1400" dirty="0"/>
          </a:p>
        </p:txBody>
      </p:sp>
      <p:sp>
        <p:nvSpPr>
          <p:cNvPr id="53" name="Rectangle 52"/>
          <p:cNvSpPr/>
          <p:nvPr/>
        </p:nvSpPr>
        <p:spPr>
          <a:xfrm>
            <a:off x="5594807" y="3748787"/>
            <a:ext cx="2630079" cy="4647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Arial" panose="020B0604020202020204" pitchFamily="34" charset="0"/>
              <a:buChar char="•"/>
            </a:pPr>
            <a:r>
              <a:rPr lang="en-IN" sz="1400" dirty="0"/>
              <a:t>Internet Search</a:t>
            </a:r>
            <a:endParaRPr lang="en-IN" sz="1400" dirty="0"/>
          </a:p>
          <a:p>
            <a:pPr marL="342900" indent="-342900">
              <a:buFont typeface="Arial" panose="020B0604020202020204" pitchFamily="34" charset="0"/>
              <a:buChar char="•"/>
            </a:pPr>
            <a:r>
              <a:rPr lang="en-IN" sz="1400" dirty="0"/>
              <a:t>Fetch Web Information</a:t>
            </a:r>
            <a:endParaRPr lang="en-IN" sz="1400" dirty="0"/>
          </a:p>
        </p:txBody>
      </p:sp>
      <p:sp>
        <p:nvSpPr>
          <p:cNvPr id="54" name="Rectangle 53"/>
          <p:cNvSpPr/>
          <p:nvPr/>
        </p:nvSpPr>
        <p:spPr>
          <a:xfrm>
            <a:off x="8914614" y="3508496"/>
            <a:ext cx="2630079"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Online Task</a:t>
            </a:r>
            <a:endParaRPr lang="en-IN" sz="1400" dirty="0"/>
          </a:p>
        </p:txBody>
      </p:sp>
      <p:sp>
        <p:nvSpPr>
          <p:cNvPr id="55" name="Rectangle 54"/>
          <p:cNvSpPr/>
          <p:nvPr/>
        </p:nvSpPr>
        <p:spPr>
          <a:xfrm>
            <a:off x="8914613" y="3723866"/>
            <a:ext cx="2630079" cy="4647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IN" sz="1400" dirty="0"/>
              <a:t>Internet Search</a:t>
            </a:r>
            <a:endParaRPr lang="en-IN" sz="1400" dirty="0"/>
          </a:p>
          <a:p>
            <a:pPr marL="285750" indent="-285750">
              <a:buFont typeface="Arial" panose="020B0604020202020204" pitchFamily="34" charset="0"/>
              <a:buChar char="•"/>
            </a:pPr>
            <a:r>
              <a:rPr lang="en-IN" sz="1400" dirty="0"/>
              <a:t>Fetch Web Information</a:t>
            </a:r>
            <a:endParaRPr lang="en-IN" sz="1400" dirty="0"/>
          </a:p>
        </p:txBody>
      </p:sp>
      <p:sp>
        <p:nvSpPr>
          <p:cNvPr id="56" name="Rectangle 55"/>
          <p:cNvSpPr/>
          <p:nvPr/>
        </p:nvSpPr>
        <p:spPr>
          <a:xfrm>
            <a:off x="5513118" y="4693171"/>
            <a:ext cx="2630079"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Generate Response Text</a:t>
            </a:r>
            <a:endParaRPr lang="en-IN" sz="1400" dirty="0"/>
          </a:p>
        </p:txBody>
      </p:sp>
      <p:sp>
        <p:nvSpPr>
          <p:cNvPr id="57" name="Rectangle 56"/>
          <p:cNvSpPr/>
          <p:nvPr/>
        </p:nvSpPr>
        <p:spPr>
          <a:xfrm>
            <a:off x="8927188" y="4708582"/>
            <a:ext cx="2630079"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Access Web API</a:t>
            </a:r>
            <a:endParaRPr lang="en-IN" sz="1400" dirty="0"/>
          </a:p>
        </p:txBody>
      </p:sp>
      <p:sp>
        <p:nvSpPr>
          <p:cNvPr id="58" name="Rectangle 57"/>
          <p:cNvSpPr/>
          <p:nvPr/>
        </p:nvSpPr>
        <p:spPr>
          <a:xfrm>
            <a:off x="4549609" y="5337348"/>
            <a:ext cx="5376815" cy="2153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Wait for Next Wake Mode </a:t>
            </a:r>
            <a:endParaRPr lang="en-IN" sz="1400" dirty="0"/>
          </a:p>
        </p:txBody>
      </p:sp>
      <p:sp>
        <p:nvSpPr>
          <p:cNvPr id="59" name="Rectangle 58"/>
          <p:cNvSpPr/>
          <p:nvPr/>
        </p:nvSpPr>
        <p:spPr>
          <a:xfrm>
            <a:off x="5465988" y="5870072"/>
            <a:ext cx="2630079" cy="2153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End / Wait for next Wake Word</a:t>
            </a:r>
            <a:endParaRPr lang="en-IN" sz="1400" dirty="0"/>
          </a:p>
        </p:txBody>
      </p:sp>
      <p:cxnSp>
        <p:nvCxnSpPr>
          <p:cNvPr id="60" name="Straight Connector 59"/>
          <p:cNvCxnSpPr/>
          <p:nvPr/>
        </p:nvCxnSpPr>
        <p:spPr>
          <a:xfrm flipV="1">
            <a:off x="4061379" y="5140887"/>
            <a:ext cx="1426620" cy="8421"/>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cxnSp>
        <p:nvCxnSpPr>
          <p:cNvPr id="64" name="Straight Arrow Connector 63"/>
          <p:cNvCxnSpPr/>
          <p:nvPr/>
        </p:nvCxnSpPr>
        <p:spPr>
          <a:xfrm>
            <a:off x="6909846" y="4942372"/>
            <a:ext cx="0" cy="39703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65" name="Straight Arrow Connector 64"/>
          <p:cNvCxnSpPr/>
          <p:nvPr/>
        </p:nvCxnSpPr>
        <p:spPr>
          <a:xfrm>
            <a:off x="9407950" y="4942372"/>
            <a:ext cx="0" cy="39703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66" name="Straight Arrow Connector 65"/>
          <p:cNvCxnSpPr/>
          <p:nvPr/>
        </p:nvCxnSpPr>
        <p:spPr>
          <a:xfrm>
            <a:off x="5487999" y="5138832"/>
            <a:ext cx="0" cy="167200"/>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69" name="Straight Arrow Connector 68"/>
          <p:cNvCxnSpPr/>
          <p:nvPr/>
        </p:nvCxnSpPr>
        <p:spPr>
          <a:xfrm>
            <a:off x="6909846" y="4224877"/>
            <a:ext cx="0" cy="483705"/>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71" name="Straight Arrow Connector 70"/>
          <p:cNvCxnSpPr/>
          <p:nvPr/>
        </p:nvCxnSpPr>
        <p:spPr>
          <a:xfrm>
            <a:off x="6909846" y="5552717"/>
            <a:ext cx="0" cy="317355"/>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73" name="Straight Arrow Connector 72"/>
          <p:cNvCxnSpPr/>
          <p:nvPr/>
        </p:nvCxnSpPr>
        <p:spPr>
          <a:xfrm>
            <a:off x="7238016" y="3387867"/>
            <a:ext cx="0" cy="145550"/>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75" name="Straight Arrow Connector 74"/>
          <p:cNvCxnSpPr/>
          <p:nvPr/>
        </p:nvCxnSpPr>
        <p:spPr>
          <a:xfrm>
            <a:off x="9200561" y="3387867"/>
            <a:ext cx="0" cy="145550"/>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77" name="Straight Arrow Connector 76"/>
          <p:cNvCxnSpPr/>
          <p:nvPr/>
        </p:nvCxnSpPr>
        <p:spPr>
          <a:xfrm>
            <a:off x="6096000" y="3259085"/>
            <a:ext cx="813846" cy="0"/>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sp>
        <p:nvSpPr>
          <p:cNvPr id="86" name="TextBox 85"/>
          <p:cNvSpPr txBox="1"/>
          <p:nvPr/>
        </p:nvSpPr>
        <p:spPr>
          <a:xfrm>
            <a:off x="5993878" y="422760"/>
            <a:ext cx="6099142" cy="768350"/>
          </a:xfrm>
          <a:prstGeom prst="rect">
            <a:avLst/>
          </a:prstGeom>
          <a:noFill/>
        </p:spPr>
        <p:txBody>
          <a:bodyPr wrap="square">
            <a:spAutoFit/>
          </a:bodyPr>
          <a:lstStyle/>
          <a:p>
            <a:r>
              <a:rPr lang="en-US" sz="4400" b="1" dirty="0">
                <a:solidFill>
                  <a:schemeClr val="accent5">
                    <a:lumMod val="50000"/>
                  </a:schemeClr>
                </a:solidFill>
                <a:latin typeface="Times New Roman" panose="02020603050405020304" pitchFamily="18" charset="0"/>
                <a:cs typeface="Times New Roman" panose="02020603050405020304" pitchFamily="18" charset="0"/>
              </a:rPr>
              <a:t>Activity Diagram</a:t>
            </a:r>
            <a:endParaRPr lang="en-US" sz="4400" b="1" dirty="0">
              <a:solidFill>
                <a:schemeClr val="accent5">
                  <a:lumMod val="50000"/>
                </a:schemeClr>
              </a:solidFill>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a:off x="9407936" y="4224877"/>
            <a:ext cx="0" cy="483705"/>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cxnSp>
        <p:nvCxnSpPr>
          <p:cNvPr id="44" name="Straight Arrow Connector 43"/>
          <p:cNvCxnSpPr/>
          <p:nvPr/>
        </p:nvCxnSpPr>
        <p:spPr>
          <a:xfrm>
            <a:off x="3021388" y="578633"/>
            <a:ext cx="0" cy="185291"/>
          </a:xfrm>
          <a:prstGeom prst="straightConnector1">
            <a:avLst/>
          </a:prstGeom>
          <a:ln>
            <a:solidFill>
              <a:schemeClr val="tx1"/>
            </a:solidFill>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44625" y="706120"/>
            <a:ext cx="4555490" cy="321310"/>
          </a:xfrm>
          <a:prstGeom prst="rect">
            <a:avLst/>
          </a:prstGeom>
          <a:noFill/>
        </p:spPr>
        <p:txBody>
          <a:bodyPr wrap="none" lIns="0" tIns="0" rIns="0" bIns="0" rtlCol="0" anchor="t"/>
          <a:lstStyle/>
          <a:p>
            <a:pPr>
              <a:lnSpc>
                <a:spcPts val="2165"/>
              </a:lnSpc>
            </a:pPr>
            <a:r>
              <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rPr>
              <a:t>Testing</a:t>
            </a:r>
            <a:endPar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3" name="Text 1"/>
          <p:cNvSpPr/>
          <p:nvPr/>
        </p:nvSpPr>
        <p:spPr>
          <a:xfrm>
            <a:off x="1444936" y="1270217"/>
            <a:ext cx="8368367" cy="323255"/>
          </a:xfrm>
          <a:prstGeom prst="rect">
            <a:avLst/>
          </a:prstGeom>
          <a:noFill/>
        </p:spPr>
        <p:txBody>
          <a:bodyPr wrap="square" lIns="0" tIns="0" rIns="0" bIns="0" rtlCol="0" anchor="t"/>
          <a:lstStyle/>
          <a:p>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Testing is a critical process to ensure software quality and reliability. It involves evaluating a system or its components with the aim of discovering defects and verifying that it meets specified requirements.</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9" name="Text 2"/>
          <p:cNvSpPr/>
          <p:nvPr/>
        </p:nvSpPr>
        <p:spPr>
          <a:xfrm>
            <a:off x="4355485" y="2237233"/>
            <a:ext cx="1394818" cy="174328"/>
          </a:xfrm>
          <a:prstGeom prst="rect">
            <a:avLst/>
          </a:prstGeom>
          <a:noFill/>
        </p:spPr>
        <p:txBody>
          <a:bodyPr wrap="none" lIns="0" tIns="0" rIns="0" bIns="0" rtlCol="0" anchor="t"/>
          <a:lstStyle/>
          <a:p>
            <a:pPr>
              <a:lnSpc>
                <a:spcPts val="1335"/>
              </a:lnSpc>
            </a:pPr>
            <a:r>
              <a:rPr lang="en-US" b="1" dirty="0">
                <a:solidFill>
                  <a:schemeClr val="tx1"/>
                </a:solidFill>
                <a:latin typeface="Times New Roman" panose="02020603050405020304" pitchFamily="18" charset="0"/>
                <a:ea typeface="Prompt Medium" pitchFamily="34" charset="-122"/>
                <a:cs typeface="Times New Roman" panose="02020603050405020304" pitchFamily="18" charset="0"/>
              </a:rPr>
              <a:t>Types of Testing</a:t>
            </a:r>
            <a:endParaRPr lang="en-US"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20" name="Shape 3"/>
          <p:cNvSpPr/>
          <p:nvPr/>
        </p:nvSpPr>
        <p:spPr>
          <a:xfrm>
            <a:off x="4079059" y="2493941"/>
            <a:ext cx="2605254" cy="850603"/>
          </a:xfrm>
          <a:prstGeom prst="roundRect">
            <a:avLst>
              <a:gd name="adj" fmla="val 6199"/>
            </a:avLst>
          </a:prstGeom>
          <a:solidFill>
            <a:schemeClr val="bg1">
              <a:alpha val="95000"/>
            </a:schemeClr>
          </a:solidFill>
          <a:ln w="1524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21" name="Text 4"/>
          <p:cNvSpPr/>
          <p:nvPr/>
        </p:nvSpPr>
        <p:spPr>
          <a:xfrm>
            <a:off x="4290258" y="2656793"/>
            <a:ext cx="1394818" cy="174328"/>
          </a:xfrm>
          <a:prstGeom prst="rect">
            <a:avLst/>
          </a:prstGeom>
          <a:noFill/>
        </p:spPr>
        <p:txBody>
          <a:bodyPr wrap="none" lIns="0" tIns="0" rIns="0" bIns="0" rtlCol="0" anchor="t"/>
          <a:lstStyle/>
          <a:p>
            <a:pPr>
              <a:lnSpc>
                <a:spcPts val="1335"/>
              </a:lnSpc>
            </a:pPr>
            <a:r>
              <a:rPr lang="en-US" sz="1600" dirty="0">
                <a:solidFill>
                  <a:schemeClr val="tx1"/>
                </a:solidFill>
                <a:latin typeface="Times New Roman" panose="02020603050405020304" pitchFamily="18" charset="0"/>
                <a:ea typeface="Prompt Medium" pitchFamily="34" charset="-122"/>
                <a:cs typeface="Times New Roman" panose="02020603050405020304" pitchFamily="18" charset="0"/>
              </a:rPr>
              <a:t>Unit Testing</a:t>
            </a:r>
            <a:endParaRPr lang="en-US" sz="1600"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22" name="Text 5"/>
          <p:cNvSpPr/>
          <p:nvPr/>
        </p:nvSpPr>
        <p:spPr>
          <a:xfrm>
            <a:off x="4304398" y="2876549"/>
            <a:ext cx="2219325" cy="323255"/>
          </a:xfrm>
          <a:prstGeom prst="rect">
            <a:avLst/>
          </a:prstGeom>
          <a:noFill/>
        </p:spPr>
        <p:txBody>
          <a:bodyPr wrap="square" lIns="0" tIns="0" rIns="0" bIns="0" rtlCol="0" anchor="t"/>
          <a:lstStyle/>
          <a:p>
            <a:pPr>
              <a:lnSpc>
                <a:spcPts val="1250"/>
              </a:lnSpc>
            </a:pPr>
            <a:r>
              <a:rPr lang="en-US" sz="1200" dirty="0">
                <a:solidFill>
                  <a:schemeClr val="tx1"/>
                </a:solidFill>
                <a:latin typeface="Times New Roman" panose="02020603050405020304" pitchFamily="18" charset="0"/>
                <a:ea typeface="Mukta Light" pitchFamily="34" charset="-122"/>
                <a:cs typeface="Times New Roman" panose="02020603050405020304" pitchFamily="18" charset="0"/>
              </a:rPr>
              <a:t>Focuses on individual components or functions in isolation.</a:t>
            </a:r>
            <a:endParaRPr lang="en-US" sz="12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3" name="Shape 6"/>
          <p:cNvSpPr/>
          <p:nvPr/>
        </p:nvSpPr>
        <p:spPr>
          <a:xfrm>
            <a:off x="4079059" y="3490755"/>
            <a:ext cx="2605255" cy="850603"/>
          </a:xfrm>
          <a:prstGeom prst="roundRect">
            <a:avLst>
              <a:gd name="adj" fmla="val 6199"/>
            </a:avLst>
          </a:prstGeom>
          <a:solidFill>
            <a:schemeClr val="bg1">
              <a:alpha val="95000"/>
            </a:schemeClr>
          </a:solidFill>
          <a:ln w="1524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24" name="Text 7"/>
          <p:cNvSpPr/>
          <p:nvPr/>
        </p:nvSpPr>
        <p:spPr>
          <a:xfrm>
            <a:off x="4304399" y="3556000"/>
            <a:ext cx="1394818" cy="174328"/>
          </a:xfrm>
          <a:prstGeom prst="rect">
            <a:avLst/>
          </a:prstGeom>
          <a:noFill/>
        </p:spPr>
        <p:txBody>
          <a:bodyPr wrap="none" lIns="0" tIns="0" rIns="0" bIns="0" rtlCol="0" anchor="t"/>
          <a:lstStyle/>
          <a:p>
            <a:pPr>
              <a:lnSpc>
                <a:spcPts val="1335"/>
              </a:lnSpc>
            </a:pPr>
            <a:r>
              <a:rPr lang="en-US" sz="1600" dirty="0">
                <a:solidFill>
                  <a:schemeClr val="tx1"/>
                </a:solidFill>
                <a:latin typeface="Times New Roman" panose="02020603050405020304" pitchFamily="18" charset="0"/>
                <a:ea typeface="Prompt Medium" pitchFamily="34" charset="-122"/>
                <a:cs typeface="Times New Roman" panose="02020603050405020304" pitchFamily="18" charset="0"/>
              </a:rPr>
              <a:t>Integration Testing</a:t>
            </a:r>
            <a:endParaRPr lang="en-US" sz="1600"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25" name="Text 8"/>
          <p:cNvSpPr/>
          <p:nvPr/>
        </p:nvSpPr>
        <p:spPr>
          <a:xfrm>
            <a:off x="4304399" y="3821015"/>
            <a:ext cx="2219325" cy="323255"/>
          </a:xfrm>
          <a:prstGeom prst="rect">
            <a:avLst/>
          </a:prstGeom>
          <a:noFill/>
        </p:spPr>
        <p:txBody>
          <a:bodyPr wrap="square" lIns="0" tIns="0" rIns="0" bIns="0" rtlCol="0" anchor="t"/>
          <a:lstStyle/>
          <a:p>
            <a:pPr>
              <a:lnSpc>
                <a:spcPts val="1250"/>
              </a:lnSpc>
            </a:pPr>
            <a:r>
              <a:rPr lang="en-US" sz="1200" dirty="0">
                <a:solidFill>
                  <a:schemeClr val="tx1"/>
                </a:solidFill>
                <a:latin typeface="Times New Roman" panose="02020603050405020304" pitchFamily="18" charset="0"/>
                <a:ea typeface="Mukta Light" pitchFamily="34" charset="-122"/>
                <a:cs typeface="Times New Roman" panose="02020603050405020304" pitchFamily="18" charset="0"/>
              </a:rPr>
              <a:t>Verifies the interaction between different units or modules.</a:t>
            </a:r>
            <a:endParaRPr lang="en-US" sz="12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6" name="Shape 9"/>
          <p:cNvSpPr/>
          <p:nvPr/>
        </p:nvSpPr>
        <p:spPr>
          <a:xfrm>
            <a:off x="4079061" y="4458944"/>
            <a:ext cx="2605256" cy="850603"/>
          </a:xfrm>
          <a:prstGeom prst="roundRect">
            <a:avLst>
              <a:gd name="adj" fmla="val 6199"/>
            </a:avLst>
          </a:prstGeom>
          <a:solidFill>
            <a:schemeClr val="bg1">
              <a:alpha val="95000"/>
            </a:schemeClr>
          </a:solidFill>
          <a:ln w="1524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27" name="Text 10"/>
          <p:cNvSpPr/>
          <p:nvPr/>
        </p:nvSpPr>
        <p:spPr>
          <a:xfrm>
            <a:off x="4355484" y="4577326"/>
            <a:ext cx="1394818" cy="174328"/>
          </a:xfrm>
          <a:prstGeom prst="rect">
            <a:avLst/>
          </a:prstGeom>
          <a:noFill/>
        </p:spPr>
        <p:txBody>
          <a:bodyPr wrap="none" lIns="0" tIns="0" rIns="0" bIns="0" rtlCol="0" anchor="t"/>
          <a:lstStyle/>
          <a:p>
            <a:pPr>
              <a:lnSpc>
                <a:spcPts val="1335"/>
              </a:lnSpc>
            </a:pPr>
            <a:r>
              <a:rPr lang="en-US" sz="1600" dirty="0">
                <a:solidFill>
                  <a:schemeClr val="tx1"/>
                </a:solidFill>
                <a:latin typeface="Times New Roman" panose="02020603050405020304" pitchFamily="18" charset="0"/>
                <a:ea typeface="Prompt Medium" pitchFamily="34" charset="-122"/>
                <a:cs typeface="Times New Roman" panose="02020603050405020304" pitchFamily="18" charset="0"/>
              </a:rPr>
              <a:t>System Testing</a:t>
            </a:r>
            <a:endParaRPr lang="en-US" sz="1600"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28" name="Text 11"/>
          <p:cNvSpPr/>
          <p:nvPr/>
        </p:nvSpPr>
        <p:spPr>
          <a:xfrm>
            <a:off x="4355484" y="4884246"/>
            <a:ext cx="2219325" cy="323255"/>
          </a:xfrm>
          <a:prstGeom prst="rect">
            <a:avLst/>
          </a:prstGeom>
          <a:noFill/>
        </p:spPr>
        <p:txBody>
          <a:bodyPr wrap="square" lIns="0" tIns="0" rIns="0" bIns="0" rtlCol="0" anchor="t"/>
          <a:lstStyle/>
          <a:p>
            <a:pPr>
              <a:lnSpc>
                <a:spcPts val="1250"/>
              </a:lnSpc>
            </a:pPr>
            <a:r>
              <a:rPr lang="en-US" sz="1200" dirty="0">
                <a:solidFill>
                  <a:schemeClr val="tx1"/>
                </a:solidFill>
                <a:latin typeface="Times New Roman" panose="02020603050405020304" pitchFamily="18" charset="0"/>
                <a:ea typeface="Mukta Light" pitchFamily="34" charset="-122"/>
                <a:cs typeface="Times New Roman" panose="02020603050405020304" pitchFamily="18" charset="0"/>
              </a:rPr>
              <a:t>Evaluates the complete and integrated software product.</a:t>
            </a:r>
            <a:endParaRPr lang="en-US" sz="12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9" name="Shape 12"/>
          <p:cNvSpPr/>
          <p:nvPr/>
        </p:nvSpPr>
        <p:spPr>
          <a:xfrm>
            <a:off x="4079060" y="5432875"/>
            <a:ext cx="2605257" cy="1003221"/>
          </a:xfrm>
          <a:prstGeom prst="roundRect">
            <a:avLst>
              <a:gd name="adj" fmla="val 6199"/>
            </a:avLst>
          </a:prstGeom>
          <a:solidFill>
            <a:schemeClr val="bg1">
              <a:alpha val="95000"/>
            </a:schemeClr>
          </a:solidFill>
          <a:ln w="1524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30" name="Text 13"/>
          <p:cNvSpPr/>
          <p:nvPr/>
        </p:nvSpPr>
        <p:spPr>
          <a:xfrm>
            <a:off x="4355485" y="5572323"/>
            <a:ext cx="1394818" cy="174328"/>
          </a:xfrm>
          <a:prstGeom prst="rect">
            <a:avLst/>
          </a:prstGeom>
          <a:noFill/>
        </p:spPr>
        <p:txBody>
          <a:bodyPr wrap="none" lIns="0" tIns="0" rIns="0" bIns="0" rtlCol="0" anchor="t"/>
          <a:lstStyle/>
          <a:p>
            <a:pPr>
              <a:lnSpc>
                <a:spcPts val="1335"/>
              </a:lnSpc>
            </a:pPr>
            <a:r>
              <a:rPr lang="en-US" sz="1600" dirty="0">
                <a:solidFill>
                  <a:schemeClr val="tx1"/>
                </a:solidFill>
                <a:latin typeface="Times New Roman" panose="02020603050405020304" pitchFamily="18" charset="0"/>
                <a:ea typeface="Prompt Medium" pitchFamily="34" charset="-122"/>
                <a:cs typeface="Times New Roman" panose="02020603050405020304" pitchFamily="18" charset="0"/>
              </a:rPr>
              <a:t>Acceptance Testing</a:t>
            </a:r>
            <a:endParaRPr lang="en-US" sz="1600"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31" name="Text 14"/>
          <p:cNvSpPr/>
          <p:nvPr/>
        </p:nvSpPr>
        <p:spPr>
          <a:xfrm>
            <a:off x="4355485" y="5837507"/>
            <a:ext cx="2219325" cy="323255"/>
          </a:xfrm>
          <a:prstGeom prst="rect">
            <a:avLst/>
          </a:prstGeom>
          <a:noFill/>
        </p:spPr>
        <p:txBody>
          <a:bodyPr wrap="square" lIns="0" tIns="0" rIns="0" bIns="0" rtlCol="0" anchor="t"/>
          <a:lstStyle/>
          <a:p>
            <a:pPr>
              <a:lnSpc>
                <a:spcPts val="1250"/>
              </a:lnSpc>
            </a:pPr>
            <a:r>
              <a:rPr lang="en-US" sz="1200" dirty="0">
                <a:solidFill>
                  <a:schemeClr val="tx1"/>
                </a:solidFill>
                <a:latin typeface="Times New Roman" panose="02020603050405020304" pitchFamily="18" charset="0"/>
                <a:ea typeface="Mukta Light" pitchFamily="34" charset="-122"/>
                <a:cs typeface="Times New Roman" panose="02020603050405020304" pitchFamily="18" charset="0"/>
              </a:rPr>
              <a:t>Confirms if the system meets business requirements and is ready for delivery.</a:t>
            </a:r>
            <a:endParaRPr lang="en-US" sz="12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09418" y="461775"/>
            <a:ext cx="6462713" cy="352723"/>
          </a:xfrm>
          <a:prstGeom prst="rect">
            <a:avLst/>
          </a:prstGeom>
          <a:solidFill>
            <a:schemeClr val="bg1"/>
          </a:solidFill>
        </p:spPr>
        <p:txBody>
          <a:bodyPr wrap="none" lIns="0" tIns="0" rIns="0" bIns="0" rtlCol="0" anchor="t"/>
          <a:lstStyle/>
          <a:p>
            <a:pPr>
              <a:lnSpc>
                <a:spcPts val="2750"/>
              </a:lnSpc>
            </a:pPr>
            <a:r>
              <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rPr>
              <a:t>Key Test Cases for Jarvis</a:t>
            </a:r>
            <a:endPar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3" name="Text 1"/>
          <p:cNvSpPr/>
          <p:nvPr/>
        </p:nvSpPr>
        <p:spPr>
          <a:xfrm>
            <a:off x="1109418" y="1132199"/>
            <a:ext cx="10075386" cy="668435"/>
          </a:xfrm>
          <a:prstGeom prst="rect">
            <a:avLst/>
          </a:prstGeom>
          <a:solidFill>
            <a:schemeClr val="bg1"/>
          </a:solidFill>
        </p:spPr>
        <p:txBody>
          <a:bodyPr wrap="none" lIns="0" tIns="0" rIns="0" bIns="0" rtlCol="0" anchor="t"/>
          <a:lstStyle/>
          <a:p>
            <a:pPr>
              <a:lnSpc>
                <a:spcPct val="15000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A thorough testing approach guarantees Jarvis performs optimally across various scenarios,</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a:p>
            <a:pPr>
              <a:lnSpc>
                <a:spcPct val="15000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providing a reliable and intuitive user experience.</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4" name="Shape 2"/>
          <p:cNvSpPr/>
          <p:nvPr/>
        </p:nvSpPr>
        <p:spPr>
          <a:xfrm>
            <a:off x="1109418" y="2164341"/>
            <a:ext cx="9787705" cy="3623717"/>
          </a:xfrm>
          <a:prstGeom prst="roundRect">
            <a:avLst>
              <a:gd name="adj" fmla="val 1990"/>
            </a:avLst>
          </a:prstGeom>
          <a:solidFill>
            <a:schemeClr val="bg1"/>
          </a:solidFill>
          <a:ln w="7620">
            <a:solidFill>
              <a:srgbClr val="FFFFFF">
                <a:alpha val="24000"/>
              </a:srgbClr>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5" name="Shape 3"/>
          <p:cNvSpPr/>
          <p:nvPr/>
        </p:nvSpPr>
        <p:spPr>
          <a:xfrm>
            <a:off x="1235174" y="2240459"/>
            <a:ext cx="9721652" cy="834331"/>
          </a:xfrm>
          <a:prstGeom prst="rect">
            <a:avLst/>
          </a:prstGeom>
          <a:solidFill>
            <a:schemeClr val="bg1"/>
          </a:solidFill>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6" name="Text 4"/>
          <p:cNvSpPr/>
          <p:nvPr/>
        </p:nvSpPr>
        <p:spPr>
          <a:xfrm>
            <a:off x="1394023" y="2320231"/>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TC_001</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7" name="Text 5"/>
          <p:cNvSpPr/>
          <p:nvPr/>
        </p:nvSpPr>
        <p:spPr>
          <a:xfrm>
            <a:off x="2912882" y="2320231"/>
            <a:ext cx="3014075" cy="674787"/>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Voice command for setting a reminder: "Jarvis, remind me to call John at 3 PM tomorrow."</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8" name="Text 6"/>
          <p:cNvSpPr/>
          <p:nvPr/>
        </p:nvSpPr>
        <p:spPr>
          <a:xfrm>
            <a:off x="6257925" y="2320231"/>
            <a:ext cx="2895502" cy="674787"/>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Jarvis acknowledges and sets the reminder accurately for the specified date and time.</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9" name="Text 7"/>
          <p:cNvSpPr/>
          <p:nvPr/>
        </p:nvSpPr>
        <p:spPr>
          <a:xfrm>
            <a:off x="9423578" y="2375394"/>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Pass</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0" name="Shape 8"/>
          <p:cNvSpPr/>
          <p:nvPr/>
        </p:nvSpPr>
        <p:spPr>
          <a:xfrm>
            <a:off x="1109418" y="3661856"/>
            <a:ext cx="9721652" cy="834331"/>
          </a:xfrm>
          <a:prstGeom prst="rect">
            <a:avLst/>
          </a:prstGeom>
          <a:solidFill>
            <a:schemeClr val="bg1"/>
          </a:solidFill>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1" name="Text 9"/>
          <p:cNvSpPr/>
          <p:nvPr/>
        </p:nvSpPr>
        <p:spPr>
          <a:xfrm>
            <a:off x="1361129" y="3305394"/>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TC_002</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2" name="Text 10"/>
          <p:cNvSpPr/>
          <p:nvPr/>
        </p:nvSpPr>
        <p:spPr>
          <a:xfrm>
            <a:off x="2912882" y="3154561"/>
            <a:ext cx="3014075" cy="674787"/>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Query for current weather in a specific city: "Jarvis, what's the weather like in Mumbai?"</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3" name="Text 11"/>
          <p:cNvSpPr/>
          <p:nvPr/>
        </p:nvSpPr>
        <p:spPr>
          <a:xfrm>
            <a:off x="6265044" y="3222919"/>
            <a:ext cx="2895502" cy="674787"/>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Jarvis provides the accurate current weather conditions and forecast for Mumbai.</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4" name="Text 12"/>
          <p:cNvSpPr/>
          <p:nvPr/>
        </p:nvSpPr>
        <p:spPr>
          <a:xfrm>
            <a:off x="9423578" y="3219941"/>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Pass</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5" name="Shape 13"/>
          <p:cNvSpPr/>
          <p:nvPr/>
        </p:nvSpPr>
        <p:spPr>
          <a:xfrm>
            <a:off x="1169121" y="4051241"/>
            <a:ext cx="9721652" cy="834331"/>
          </a:xfrm>
          <a:prstGeom prst="rect">
            <a:avLst/>
          </a:prstGeom>
          <a:solidFill>
            <a:schemeClr val="bg1"/>
          </a:solidFill>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6" name="Text 14"/>
          <p:cNvSpPr/>
          <p:nvPr/>
        </p:nvSpPr>
        <p:spPr>
          <a:xfrm>
            <a:off x="1394023" y="4190351"/>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TC_003</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7" name="Text 15"/>
          <p:cNvSpPr/>
          <p:nvPr/>
        </p:nvSpPr>
        <p:spPr>
          <a:xfrm>
            <a:off x="2912882" y="4213820"/>
            <a:ext cx="3014075" cy="737539"/>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Playing music from a linked streaming service: "Jarvis, play my workout playlist."</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8" name="Text 16"/>
          <p:cNvSpPr/>
          <p:nvPr/>
        </p:nvSpPr>
        <p:spPr>
          <a:xfrm>
            <a:off x="6265044" y="4121420"/>
            <a:ext cx="2895501" cy="674787"/>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Jarvis initiates playback of the specified playlist from the connected streaming service.</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9" name="Text 17"/>
          <p:cNvSpPr/>
          <p:nvPr/>
        </p:nvSpPr>
        <p:spPr>
          <a:xfrm>
            <a:off x="9429781" y="4098093"/>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Pass</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0" name="Shape 18"/>
          <p:cNvSpPr/>
          <p:nvPr/>
        </p:nvSpPr>
        <p:spPr>
          <a:xfrm>
            <a:off x="1294877" y="4990069"/>
            <a:ext cx="9721652" cy="534690"/>
          </a:xfrm>
          <a:prstGeom prst="rect">
            <a:avLst/>
          </a:prstGeom>
          <a:solidFill>
            <a:schemeClr val="bg1"/>
          </a:solidFill>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21" name="Text 19"/>
          <p:cNvSpPr/>
          <p:nvPr/>
        </p:nvSpPr>
        <p:spPr>
          <a:xfrm>
            <a:off x="1361129" y="5055856"/>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TC_004</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2" name="Text 20"/>
          <p:cNvSpPr/>
          <p:nvPr/>
        </p:nvSpPr>
        <p:spPr>
          <a:xfrm>
            <a:off x="2912883" y="5034705"/>
            <a:ext cx="3014074" cy="674787"/>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Performing a simple calculation: "Jarvis, what is 15 multiplied by 8?"</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3" name="Text 21"/>
          <p:cNvSpPr/>
          <p:nvPr/>
        </p:nvSpPr>
        <p:spPr>
          <a:xfrm>
            <a:off x="6265044" y="5074900"/>
            <a:ext cx="2895500" cy="449858"/>
          </a:xfrm>
          <a:prstGeom prst="rect">
            <a:avLst/>
          </a:prstGeom>
          <a:solidFill>
            <a:schemeClr val="bg1"/>
          </a:solidFill>
        </p:spPr>
        <p:txBody>
          <a:bodyPr wrap="squar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Jarvis provides the correct mathematical answer (120).</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24" name="Text 22"/>
          <p:cNvSpPr/>
          <p:nvPr/>
        </p:nvSpPr>
        <p:spPr>
          <a:xfrm>
            <a:off x="9423579" y="5034705"/>
            <a:ext cx="2109887" cy="224929"/>
          </a:xfrm>
          <a:prstGeom prst="rect">
            <a:avLst/>
          </a:prstGeom>
          <a:solidFill>
            <a:schemeClr val="bg1"/>
          </a:solidFill>
        </p:spPr>
        <p:txBody>
          <a:bodyPr wrap="none" lIns="0" tIns="0" rIns="0" bIns="0" rtlCol="0" anchor="t"/>
          <a:lstStyle/>
          <a:p>
            <a:pPr>
              <a:lnSpc>
                <a:spcPts val="1750"/>
              </a:lnSpc>
            </a:pPr>
            <a:r>
              <a:rPr lang="en-US" sz="1400" dirty="0">
                <a:solidFill>
                  <a:schemeClr val="tx1"/>
                </a:solidFill>
                <a:latin typeface="Times New Roman" panose="02020603050405020304" pitchFamily="18" charset="0"/>
                <a:ea typeface="Mukta Light" pitchFamily="34" charset="-122"/>
                <a:cs typeface="Times New Roman" panose="02020603050405020304" pitchFamily="18" charset="0"/>
              </a:rPr>
              <a:t>Pass</a:t>
            </a:r>
            <a:endParaRPr lang="en-US" sz="1400"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2231" y="1772016"/>
            <a:ext cx="5618375" cy="4119738"/>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521" y="1772016"/>
            <a:ext cx="5618375" cy="4119738"/>
          </a:xfrm>
          <a:prstGeom prst="rect">
            <a:avLst/>
          </a:prstGeom>
        </p:spPr>
      </p:pic>
      <p:sp>
        <p:nvSpPr>
          <p:cNvPr id="2" name="Text Box 1"/>
          <p:cNvSpPr txBox="1"/>
          <p:nvPr/>
        </p:nvSpPr>
        <p:spPr>
          <a:xfrm>
            <a:off x="2800350" y="565785"/>
            <a:ext cx="6096000" cy="768350"/>
          </a:xfrm>
          <a:prstGeom prst="rect">
            <a:avLst/>
          </a:prstGeom>
          <a:noFill/>
        </p:spPr>
        <p:txBody>
          <a:bodyPr wrap="square" rtlCol="0" anchor="t">
            <a:spAutoFit/>
          </a:bodyPr>
          <a:p>
            <a:pPr algn="ctr"/>
            <a:r>
              <a:rPr lang="en-IN" sz="4400" b="1" dirty="0">
                <a:latin typeface="Times New Roman" panose="02020603050405020304" pitchFamily="18" charset="0"/>
                <a:cs typeface="Times New Roman" panose="02020603050405020304" pitchFamily="18" charset="0"/>
                <a:sym typeface="+mn-ea"/>
              </a:rPr>
              <a:t>Output Screen Shots</a:t>
            </a:r>
            <a:endParaRPr lang="en-IN" sz="4400"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2969260" y="708025"/>
            <a:ext cx="6096000" cy="768350"/>
          </a:xfrm>
          <a:prstGeom prst="rect">
            <a:avLst/>
          </a:prstGeom>
          <a:noFill/>
        </p:spPr>
        <p:txBody>
          <a:bodyPr wrap="square" rtlCol="0" anchor="t">
            <a:spAutoFit/>
          </a:bodyPr>
          <a:p>
            <a:pPr algn="ctr"/>
            <a:r>
              <a:rPr lang="en-IN" sz="4400" b="1" dirty="0">
                <a:latin typeface="Times New Roman" panose="02020603050405020304" pitchFamily="18" charset="0"/>
                <a:cs typeface="Times New Roman" panose="02020603050405020304" pitchFamily="18" charset="0"/>
                <a:sym typeface="+mn-ea"/>
              </a:rPr>
              <a:t>Output Screen Shots</a:t>
            </a:r>
            <a:endParaRPr lang="en-IN" sz="4400" b="1" dirty="0">
              <a:latin typeface="Times New Roman" panose="02020603050405020304" pitchFamily="18" charset="0"/>
              <a:cs typeface="Times New Roman" panose="02020603050405020304" pitchFamily="18" charset="0"/>
              <a:sym typeface="+mn-ea"/>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2485" y="1593130"/>
            <a:ext cx="5392132" cy="4194928"/>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7383" y="1593130"/>
            <a:ext cx="5392132" cy="41949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0"/>
          <p:cNvSpPr/>
          <p:nvPr/>
        </p:nvSpPr>
        <p:spPr>
          <a:xfrm>
            <a:off x="720031" y="766822"/>
            <a:ext cx="9638208" cy="457101"/>
          </a:xfrm>
          <a:prstGeom prst="rect">
            <a:avLst/>
          </a:prstGeom>
          <a:noFill/>
        </p:spPr>
        <p:txBody>
          <a:bodyPr wrap="none" lIns="0" tIns="0" rIns="0" bIns="0" rtlCol="0" anchor="t"/>
          <a:lstStyle/>
          <a:p>
            <a:pPr>
              <a:lnSpc>
                <a:spcPts val="3585"/>
              </a:lnSpc>
            </a:pPr>
            <a:r>
              <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rPr>
              <a:t>Limitations</a:t>
            </a:r>
            <a:endPar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6" name="Text 1"/>
          <p:cNvSpPr/>
          <p:nvPr/>
        </p:nvSpPr>
        <p:spPr>
          <a:xfrm>
            <a:off x="720031" y="1950344"/>
            <a:ext cx="10751939" cy="329208"/>
          </a:xfrm>
          <a:prstGeom prst="rect">
            <a:avLst/>
          </a:prstGeom>
          <a:noFill/>
        </p:spPr>
        <p:txBody>
          <a:bodyPr wrap="none" lIns="0" tIns="0" rIns="0" bIns="0" rtlCol="0" anchor="t"/>
          <a:lstStyle/>
          <a:p>
            <a:pPr>
              <a:lnSpc>
                <a:spcPts val="2585"/>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While Jarvis offers advanced capabilities, certain limitations were identified during its initial development phase.</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7" name="Shape 2"/>
          <p:cNvSpPr/>
          <p:nvPr/>
        </p:nvSpPr>
        <p:spPr>
          <a:xfrm>
            <a:off x="720031" y="2510929"/>
            <a:ext cx="5273080" cy="1529755"/>
          </a:xfrm>
          <a:prstGeom prst="roundRect">
            <a:avLst>
              <a:gd name="adj" fmla="val 7970"/>
            </a:avLst>
          </a:prstGeom>
          <a:solidFill>
            <a:schemeClr val="bg1">
              <a:alpha val="95000"/>
            </a:schemeClr>
          </a:solidFill>
          <a:ln w="3048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8" name="Text 4"/>
          <p:cNvSpPr/>
          <p:nvPr/>
        </p:nvSpPr>
        <p:spPr>
          <a:xfrm>
            <a:off x="1027311" y="2742009"/>
            <a:ext cx="2286000" cy="285750"/>
          </a:xfrm>
          <a:prstGeom prst="rect">
            <a:avLst/>
          </a:prstGeom>
          <a:noFill/>
        </p:spPr>
        <p:txBody>
          <a:bodyPr wrap="none" lIns="0" tIns="0" rIns="0" bIns="0" rtlCol="0" anchor="t"/>
          <a:lstStyle/>
          <a:p>
            <a:pPr>
              <a:lnSpc>
                <a:spcPts val="2250"/>
              </a:lnSpc>
            </a:pPr>
            <a:r>
              <a:rPr lang="en-US" b="1" dirty="0">
                <a:solidFill>
                  <a:schemeClr val="tx1"/>
                </a:solidFill>
                <a:latin typeface="Times New Roman" panose="02020603050405020304" pitchFamily="18" charset="0"/>
                <a:ea typeface="Prompt Medium" pitchFamily="34" charset="-122"/>
                <a:cs typeface="Times New Roman" panose="02020603050405020304" pitchFamily="18" charset="0"/>
              </a:rPr>
              <a:t>Offline Functionality</a:t>
            </a:r>
            <a:endParaRPr lang="en-US"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9" name="Text 5"/>
          <p:cNvSpPr/>
          <p:nvPr/>
        </p:nvSpPr>
        <p:spPr>
          <a:xfrm>
            <a:off x="1027311" y="3151188"/>
            <a:ext cx="4734718" cy="658416"/>
          </a:xfrm>
          <a:prstGeom prst="rect">
            <a:avLst/>
          </a:prstGeom>
          <a:noFill/>
        </p:spPr>
        <p:txBody>
          <a:bodyPr wrap="square" lIns="0" tIns="0" rIns="0" bIns="0" rtlCol="0" anchor="t"/>
          <a:lstStyle/>
          <a:p>
            <a:pPr>
              <a:lnSpc>
                <a:spcPts val="2585"/>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Limited functionality without an active internet connection, impacting real-time data access.</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0" name="Shape 6"/>
          <p:cNvSpPr/>
          <p:nvPr/>
        </p:nvSpPr>
        <p:spPr>
          <a:xfrm>
            <a:off x="6274991" y="2510929"/>
            <a:ext cx="5273179" cy="1529755"/>
          </a:xfrm>
          <a:prstGeom prst="roundRect">
            <a:avLst>
              <a:gd name="adj" fmla="val 7970"/>
            </a:avLst>
          </a:prstGeom>
          <a:solidFill>
            <a:schemeClr val="bg1">
              <a:alpha val="95000"/>
            </a:schemeClr>
          </a:solidFill>
          <a:ln w="3048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1" name="Text 8"/>
          <p:cNvSpPr/>
          <p:nvPr/>
        </p:nvSpPr>
        <p:spPr>
          <a:xfrm>
            <a:off x="6506071" y="2742009"/>
            <a:ext cx="2286000" cy="285750"/>
          </a:xfrm>
          <a:prstGeom prst="rect">
            <a:avLst/>
          </a:prstGeom>
          <a:noFill/>
        </p:spPr>
        <p:txBody>
          <a:bodyPr wrap="none" lIns="0" tIns="0" rIns="0" bIns="0" rtlCol="0" anchor="t"/>
          <a:lstStyle/>
          <a:p>
            <a:pPr>
              <a:lnSpc>
                <a:spcPts val="2250"/>
              </a:lnSpc>
            </a:pPr>
            <a:r>
              <a:rPr lang="en-US" b="1" dirty="0">
                <a:solidFill>
                  <a:schemeClr val="tx1"/>
                </a:solidFill>
                <a:latin typeface="Times New Roman" panose="02020603050405020304" pitchFamily="18" charset="0"/>
                <a:ea typeface="Prompt Medium" pitchFamily="34" charset="-122"/>
                <a:cs typeface="Times New Roman" panose="02020603050405020304" pitchFamily="18" charset="0"/>
              </a:rPr>
              <a:t>Complex Queries</a:t>
            </a:r>
            <a:endParaRPr lang="en-US"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12" name="Text 9"/>
          <p:cNvSpPr/>
          <p:nvPr/>
        </p:nvSpPr>
        <p:spPr>
          <a:xfrm>
            <a:off x="6506071" y="3151188"/>
            <a:ext cx="4734818" cy="658416"/>
          </a:xfrm>
          <a:prstGeom prst="rect">
            <a:avLst/>
          </a:prstGeom>
          <a:noFill/>
        </p:spPr>
        <p:txBody>
          <a:bodyPr wrap="square" lIns="0" tIns="0" rIns="0" bIns="0" rtlCol="0" anchor="t"/>
          <a:lstStyle/>
          <a:p>
            <a:pPr>
              <a:lnSpc>
                <a:spcPts val="2585"/>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Challenges in processing highly nuanced or multi-part complex natural language queries effectively.</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3" name="Shape 10"/>
          <p:cNvSpPr/>
          <p:nvPr/>
        </p:nvSpPr>
        <p:spPr>
          <a:xfrm>
            <a:off x="796231" y="4246364"/>
            <a:ext cx="5273080" cy="1529755"/>
          </a:xfrm>
          <a:prstGeom prst="roundRect">
            <a:avLst>
              <a:gd name="adj" fmla="val 7970"/>
            </a:avLst>
          </a:prstGeom>
          <a:solidFill>
            <a:schemeClr val="bg1">
              <a:alpha val="95000"/>
            </a:schemeClr>
          </a:solidFill>
          <a:ln w="3048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4" name="Text 12"/>
          <p:cNvSpPr/>
          <p:nvPr/>
        </p:nvSpPr>
        <p:spPr>
          <a:xfrm>
            <a:off x="1027311" y="4477444"/>
            <a:ext cx="2302073" cy="285750"/>
          </a:xfrm>
          <a:prstGeom prst="rect">
            <a:avLst/>
          </a:prstGeom>
          <a:noFill/>
        </p:spPr>
        <p:txBody>
          <a:bodyPr wrap="none" lIns="0" tIns="0" rIns="0" bIns="0" rtlCol="0" anchor="t"/>
          <a:lstStyle/>
          <a:p>
            <a:pPr>
              <a:lnSpc>
                <a:spcPts val="2250"/>
              </a:lnSpc>
            </a:pPr>
            <a:r>
              <a:rPr lang="en-US" b="1" dirty="0">
                <a:solidFill>
                  <a:schemeClr val="tx1"/>
                </a:solidFill>
                <a:latin typeface="Times New Roman" panose="02020603050405020304" pitchFamily="18" charset="0"/>
                <a:ea typeface="Prompt Medium" pitchFamily="34" charset="-122"/>
                <a:cs typeface="Times New Roman" panose="02020603050405020304" pitchFamily="18" charset="0"/>
              </a:rPr>
              <a:t>Device Compatibility</a:t>
            </a:r>
            <a:endParaRPr lang="en-US"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15" name="Text 13"/>
          <p:cNvSpPr/>
          <p:nvPr/>
        </p:nvSpPr>
        <p:spPr>
          <a:xfrm>
            <a:off x="1027311" y="4886623"/>
            <a:ext cx="4734718" cy="658416"/>
          </a:xfrm>
          <a:prstGeom prst="rect">
            <a:avLst/>
          </a:prstGeom>
          <a:noFill/>
        </p:spPr>
        <p:txBody>
          <a:bodyPr wrap="square" lIns="0" tIns="0" rIns="0" bIns="0" rtlCol="0" anchor="t"/>
          <a:lstStyle/>
          <a:p>
            <a:pPr>
              <a:lnSpc>
                <a:spcPts val="2585"/>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Currently optimized for specific operating systems, with broader compatibility under development.</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6" name="Shape 14"/>
          <p:cNvSpPr/>
          <p:nvPr/>
        </p:nvSpPr>
        <p:spPr>
          <a:xfrm>
            <a:off x="6274991" y="4246364"/>
            <a:ext cx="5273179" cy="1529755"/>
          </a:xfrm>
          <a:prstGeom prst="roundRect">
            <a:avLst>
              <a:gd name="adj" fmla="val 7970"/>
            </a:avLst>
          </a:prstGeom>
          <a:solidFill>
            <a:schemeClr val="bg1">
              <a:alpha val="95000"/>
            </a:schemeClr>
          </a:solidFill>
          <a:ln w="3048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8" name="Text 16"/>
          <p:cNvSpPr/>
          <p:nvPr/>
        </p:nvSpPr>
        <p:spPr>
          <a:xfrm>
            <a:off x="6506071" y="4477444"/>
            <a:ext cx="2286000" cy="285750"/>
          </a:xfrm>
          <a:prstGeom prst="rect">
            <a:avLst/>
          </a:prstGeom>
          <a:noFill/>
        </p:spPr>
        <p:txBody>
          <a:bodyPr wrap="none" lIns="0" tIns="0" rIns="0" bIns="0" rtlCol="0" anchor="t"/>
          <a:lstStyle/>
          <a:p>
            <a:pPr>
              <a:lnSpc>
                <a:spcPts val="2250"/>
              </a:lnSpc>
            </a:pPr>
            <a:r>
              <a:rPr lang="en-US" b="1" dirty="0">
                <a:solidFill>
                  <a:schemeClr val="tx1"/>
                </a:solidFill>
                <a:latin typeface="Times New Roman" panose="02020603050405020304" pitchFamily="18" charset="0"/>
                <a:ea typeface="Prompt Medium" pitchFamily="34" charset="-122"/>
                <a:cs typeface="Times New Roman" panose="02020603050405020304" pitchFamily="18" charset="0"/>
              </a:rPr>
              <a:t>Privacy Concerns</a:t>
            </a:r>
            <a:endParaRPr lang="en-US"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19" name="Text 17"/>
          <p:cNvSpPr/>
          <p:nvPr/>
        </p:nvSpPr>
        <p:spPr>
          <a:xfrm>
            <a:off x="6506071" y="4886623"/>
            <a:ext cx="4734818" cy="658416"/>
          </a:xfrm>
          <a:prstGeom prst="rect">
            <a:avLst/>
          </a:prstGeom>
          <a:noFill/>
        </p:spPr>
        <p:txBody>
          <a:bodyPr wrap="square" lIns="0" tIns="0" rIns="0" bIns="0" rtlCol="0" anchor="t"/>
          <a:lstStyle/>
          <a:p>
            <a:pPr>
              <a:lnSpc>
                <a:spcPts val="2585"/>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Ongoing efforts to enhance data privacy and user control over personal information.</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0"/>
          <p:cNvSpPr/>
          <p:nvPr/>
        </p:nvSpPr>
        <p:spPr>
          <a:xfrm>
            <a:off x="651867" y="612378"/>
            <a:ext cx="6768207" cy="413842"/>
          </a:xfrm>
          <a:prstGeom prst="rect">
            <a:avLst/>
          </a:prstGeom>
          <a:noFill/>
        </p:spPr>
        <p:txBody>
          <a:bodyPr wrap="none" lIns="0" tIns="0" rIns="0" bIns="0" rtlCol="0" anchor="t"/>
          <a:lstStyle/>
          <a:p>
            <a:pPr>
              <a:lnSpc>
                <a:spcPts val="3250"/>
              </a:lnSpc>
            </a:pPr>
            <a:r>
              <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rPr>
              <a:t>Future Scope for Jarvis</a:t>
            </a:r>
            <a:endParaRPr lang="en-US" sz="4400" b="1"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3" name="Text 1"/>
          <p:cNvSpPr/>
          <p:nvPr/>
        </p:nvSpPr>
        <p:spPr>
          <a:xfrm>
            <a:off x="651868" y="1363365"/>
            <a:ext cx="10888266" cy="283766"/>
          </a:xfrm>
          <a:prstGeom prst="rect">
            <a:avLst/>
          </a:prstGeom>
          <a:noFill/>
        </p:spPr>
        <p:txBody>
          <a:bodyPr wrap="none" lIns="0" tIns="0" rIns="0" bIns="0" rtlCol="0" anchor="t"/>
          <a:lstStyle/>
          <a:p>
            <a:pPr>
              <a:lnSpc>
                <a:spcPts val="221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The potential for Jarvis is vast, with exciting advancements planned to expand its utility and intelligence.</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4" name="Shape 2"/>
          <p:cNvSpPr/>
          <p:nvPr/>
        </p:nvSpPr>
        <p:spPr>
          <a:xfrm>
            <a:off x="931168" y="2302272"/>
            <a:ext cx="5080397" cy="186233"/>
          </a:xfrm>
          <a:prstGeom prst="roundRect">
            <a:avLst>
              <a:gd name="adj" fmla="val 4200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5" name="Shape 3"/>
          <p:cNvSpPr/>
          <p:nvPr/>
        </p:nvSpPr>
        <p:spPr>
          <a:xfrm>
            <a:off x="651868" y="2115989"/>
            <a:ext cx="558701" cy="558701"/>
          </a:xfrm>
          <a:prstGeom prst="roundRect">
            <a:avLst>
              <a:gd name="adj" fmla="val 6819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1568" y="2255689"/>
            <a:ext cx="279301" cy="279301"/>
          </a:xfrm>
          <a:prstGeom prst="rect">
            <a:avLst/>
          </a:prstGeom>
        </p:spPr>
      </p:pic>
      <p:sp>
        <p:nvSpPr>
          <p:cNvPr id="7" name="Text 4"/>
          <p:cNvSpPr/>
          <p:nvPr/>
        </p:nvSpPr>
        <p:spPr>
          <a:xfrm>
            <a:off x="838101" y="2843312"/>
            <a:ext cx="2069406" cy="258663"/>
          </a:xfrm>
          <a:prstGeom prst="rect">
            <a:avLst/>
          </a:prstGeom>
          <a:noFill/>
        </p:spPr>
        <p:txBody>
          <a:bodyPr wrap="none" lIns="0" tIns="0" rIns="0" bIns="0" rtlCol="0" anchor="t"/>
          <a:lstStyle/>
          <a:p>
            <a:pPr>
              <a:lnSpc>
                <a:spcPts val="2000"/>
              </a:lnSpc>
            </a:pPr>
            <a:r>
              <a:rPr lang="en-US" dirty="0">
                <a:solidFill>
                  <a:schemeClr val="tx1"/>
                </a:solidFill>
                <a:latin typeface="Times New Roman" panose="02020603050405020304" pitchFamily="18" charset="0"/>
                <a:ea typeface="Prompt Medium" pitchFamily="34" charset="-122"/>
                <a:cs typeface="Times New Roman" panose="02020603050405020304" pitchFamily="18" charset="0"/>
              </a:rPr>
              <a:t>Advanced Learning</a:t>
            </a:r>
            <a:endParaRPr lang="en-US"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8" name="Text 5"/>
          <p:cNvSpPr/>
          <p:nvPr/>
        </p:nvSpPr>
        <p:spPr>
          <a:xfrm>
            <a:off x="838101" y="3203079"/>
            <a:ext cx="4987330" cy="567532"/>
          </a:xfrm>
          <a:prstGeom prst="rect">
            <a:avLst/>
          </a:prstGeom>
          <a:noFill/>
        </p:spPr>
        <p:txBody>
          <a:bodyPr wrap="square" lIns="0" tIns="0" rIns="0" bIns="0" rtlCol="0" anchor="t"/>
          <a:lstStyle/>
          <a:p>
            <a:pPr>
              <a:lnSpc>
                <a:spcPts val="221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Implementation of deeper machine learning algorithms for more personalized interactions.</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9" name="Shape 6"/>
          <p:cNvSpPr/>
          <p:nvPr/>
        </p:nvSpPr>
        <p:spPr>
          <a:xfrm>
            <a:off x="6599238" y="2306954"/>
            <a:ext cx="4801194" cy="181552"/>
          </a:xfrm>
          <a:prstGeom prst="roundRect">
            <a:avLst>
              <a:gd name="adj" fmla="val 4200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0" name="Shape 7"/>
          <p:cNvSpPr/>
          <p:nvPr/>
        </p:nvSpPr>
        <p:spPr>
          <a:xfrm>
            <a:off x="6185347" y="2099073"/>
            <a:ext cx="558701" cy="558701"/>
          </a:xfrm>
          <a:prstGeom prst="roundRect">
            <a:avLst>
              <a:gd name="adj" fmla="val 6819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pic>
        <p:nvPicPr>
          <p:cNvPr id="11"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02213" y="2239137"/>
            <a:ext cx="279301" cy="279301"/>
          </a:xfrm>
          <a:prstGeom prst="rect">
            <a:avLst/>
          </a:prstGeom>
        </p:spPr>
      </p:pic>
      <p:sp>
        <p:nvSpPr>
          <p:cNvPr id="12" name="Text 8"/>
          <p:cNvSpPr/>
          <p:nvPr/>
        </p:nvSpPr>
        <p:spPr>
          <a:xfrm>
            <a:off x="6385371" y="2837698"/>
            <a:ext cx="2069406" cy="258663"/>
          </a:xfrm>
          <a:prstGeom prst="rect">
            <a:avLst/>
          </a:prstGeom>
          <a:noFill/>
        </p:spPr>
        <p:txBody>
          <a:bodyPr wrap="none" lIns="0" tIns="0" rIns="0" bIns="0" rtlCol="0" anchor="t"/>
          <a:lstStyle/>
          <a:p>
            <a:pPr>
              <a:lnSpc>
                <a:spcPts val="2000"/>
              </a:lnSpc>
            </a:pPr>
            <a:r>
              <a:rPr lang="en-US" dirty="0">
                <a:solidFill>
                  <a:schemeClr val="tx1"/>
                </a:solidFill>
                <a:latin typeface="Times New Roman" panose="02020603050405020304" pitchFamily="18" charset="0"/>
                <a:ea typeface="Prompt Medium" pitchFamily="34" charset="-122"/>
                <a:cs typeface="Times New Roman" panose="02020603050405020304" pitchFamily="18" charset="0"/>
              </a:rPr>
              <a:t>Multilingual Support</a:t>
            </a:r>
            <a:endParaRPr lang="en-US"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13" name="Text 9"/>
          <p:cNvSpPr/>
          <p:nvPr/>
        </p:nvSpPr>
        <p:spPr>
          <a:xfrm>
            <a:off x="6330496" y="3203079"/>
            <a:ext cx="4987429" cy="283766"/>
          </a:xfrm>
          <a:prstGeom prst="rect">
            <a:avLst/>
          </a:prstGeom>
          <a:noFill/>
        </p:spPr>
        <p:txBody>
          <a:bodyPr wrap="none" lIns="0" tIns="0" rIns="0" bIns="0" rtlCol="0" anchor="t"/>
          <a:lstStyle/>
          <a:p>
            <a:pPr>
              <a:lnSpc>
                <a:spcPts val="221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Expanding language capabilities to cater to a global </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a:p>
            <a:pPr>
              <a:lnSpc>
                <a:spcPts val="221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user base.</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4" name="Shape 10"/>
          <p:cNvSpPr/>
          <p:nvPr/>
        </p:nvSpPr>
        <p:spPr>
          <a:xfrm>
            <a:off x="931168" y="4590951"/>
            <a:ext cx="5080397" cy="186233"/>
          </a:xfrm>
          <a:prstGeom prst="roundRect">
            <a:avLst>
              <a:gd name="adj" fmla="val 4200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15" name="Shape 11"/>
          <p:cNvSpPr/>
          <p:nvPr/>
        </p:nvSpPr>
        <p:spPr>
          <a:xfrm>
            <a:off x="651868" y="4404668"/>
            <a:ext cx="558701" cy="558701"/>
          </a:xfrm>
          <a:prstGeom prst="roundRect">
            <a:avLst>
              <a:gd name="adj" fmla="val 6819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pic>
        <p:nvPicPr>
          <p:cNvPr id="16"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1568" y="4544368"/>
            <a:ext cx="279301" cy="279301"/>
          </a:xfrm>
          <a:prstGeom prst="rect">
            <a:avLst/>
          </a:prstGeom>
        </p:spPr>
      </p:pic>
      <p:sp>
        <p:nvSpPr>
          <p:cNvPr id="17" name="Text 12"/>
          <p:cNvSpPr/>
          <p:nvPr/>
        </p:nvSpPr>
        <p:spPr>
          <a:xfrm>
            <a:off x="838101" y="5131991"/>
            <a:ext cx="2417168" cy="258663"/>
          </a:xfrm>
          <a:prstGeom prst="rect">
            <a:avLst/>
          </a:prstGeom>
          <a:noFill/>
        </p:spPr>
        <p:txBody>
          <a:bodyPr wrap="none" lIns="0" tIns="0" rIns="0" bIns="0" rtlCol="0" anchor="t"/>
          <a:lstStyle/>
          <a:p>
            <a:pPr>
              <a:lnSpc>
                <a:spcPts val="2000"/>
              </a:lnSpc>
            </a:pPr>
            <a:r>
              <a:rPr lang="en-US" dirty="0">
                <a:solidFill>
                  <a:schemeClr val="tx1"/>
                </a:solidFill>
                <a:latin typeface="Times New Roman" panose="02020603050405020304" pitchFamily="18" charset="0"/>
                <a:ea typeface="Prompt Medium" pitchFamily="34" charset="-122"/>
                <a:cs typeface="Times New Roman" panose="02020603050405020304" pitchFamily="18" charset="0"/>
              </a:rPr>
              <a:t>Smart Home Integration</a:t>
            </a:r>
            <a:endParaRPr lang="en-US"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18" name="Text 13"/>
          <p:cNvSpPr/>
          <p:nvPr/>
        </p:nvSpPr>
        <p:spPr>
          <a:xfrm>
            <a:off x="838101" y="5491757"/>
            <a:ext cx="4987330" cy="567532"/>
          </a:xfrm>
          <a:prstGeom prst="rect">
            <a:avLst/>
          </a:prstGeom>
          <a:noFill/>
        </p:spPr>
        <p:txBody>
          <a:bodyPr wrap="square" lIns="0" tIns="0" rIns="0" bIns="0" rtlCol="0" anchor="t"/>
          <a:lstStyle/>
          <a:p>
            <a:pPr>
              <a:lnSpc>
                <a:spcPts val="221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Seamless control and management of various smart home devices and ecosystems.</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
        <p:nvSpPr>
          <p:cNvPr id="19" name="Shape 14"/>
          <p:cNvSpPr/>
          <p:nvPr/>
        </p:nvSpPr>
        <p:spPr>
          <a:xfrm>
            <a:off x="6441864" y="4590851"/>
            <a:ext cx="5080496" cy="186233"/>
          </a:xfrm>
          <a:prstGeom prst="roundRect">
            <a:avLst>
              <a:gd name="adj" fmla="val 4200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sp>
        <p:nvSpPr>
          <p:cNvPr id="20" name="Shape 15"/>
          <p:cNvSpPr/>
          <p:nvPr/>
        </p:nvSpPr>
        <p:spPr>
          <a:xfrm>
            <a:off x="6180237" y="4404667"/>
            <a:ext cx="558701" cy="558701"/>
          </a:xfrm>
          <a:prstGeom prst="roundRect">
            <a:avLst>
              <a:gd name="adj" fmla="val 68194"/>
            </a:avLst>
          </a:prstGeom>
          <a:solidFill>
            <a:schemeClr val="tx1"/>
          </a:solidFill>
          <a:ln w="7620">
            <a:solidFill>
              <a:srgbClr val="6D4562"/>
            </a:solidFill>
            <a:prstDash val="solid"/>
          </a:ln>
        </p:spPr>
        <p:txBody>
          <a:bodyPr/>
          <a:lstStyle/>
          <a:p>
            <a:endParaRPr lang="en-IN">
              <a:solidFill>
                <a:schemeClr val="tx1"/>
              </a:solidFill>
              <a:latin typeface="Times New Roman" panose="02020603050405020304" pitchFamily="18" charset="0"/>
              <a:cs typeface="Times New Roman" panose="02020603050405020304" pitchFamily="18" charset="0"/>
            </a:endParaRPr>
          </a:p>
        </p:txBody>
      </p:sp>
      <p:pic>
        <p:nvPicPr>
          <p:cNvPr id="2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937" y="4552651"/>
            <a:ext cx="279301" cy="279301"/>
          </a:xfrm>
          <a:prstGeom prst="rect">
            <a:avLst/>
          </a:prstGeom>
        </p:spPr>
      </p:pic>
      <p:sp>
        <p:nvSpPr>
          <p:cNvPr id="22" name="Text 16"/>
          <p:cNvSpPr/>
          <p:nvPr/>
        </p:nvSpPr>
        <p:spPr>
          <a:xfrm>
            <a:off x="6385371" y="5053402"/>
            <a:ext cx="2069406" cy="258663"/>
          </a:xfrm>
          <a:prstGeom prst="rect">
            <a:avLst/>
          </a:prstGeom>
          <a:noFill/>
        </p:spPr>
        <p:txBody>
          <a:bodyPr wrap="none" lIns="0" tIns="0" rIns="0" bIns="0" rtlCol="0" anchor="t"/>
          <a:lstStyle/>
          <a:p>
            <a:pPr>
              <a:lnSpc>
                <a:spcPts val="2000"/>
              </a:lnSpc>
            </a:pPr>
            <a:r>
              <a:rPr lang="en-US" dirty="0">
                <a:solidFill>
                  <a:schemeClr val="tx1"/>
                </a:solidFill>
                <a:latin typeface="Times New Roman" panose="02020603050405020304" pitchFamily="18" charset="0"/>
                <a:ea typeface="Prompt Medium" pitchFamily="34" charset="-122"/>
                <a:cs typeface="Times New Roman" panose="02020603050405020304" pitchFamily="18" charset="0"/>
              </a:rPr>
              <a:t>Enhanced Security</a:t>
            </a:r>
            <a:endParaRPr lang="en-US" dirty="0">
              <a:solidFill>
                <a:schemeClr val="tx1"/>
              </a:solidFill>
              <a:latin typeface="Times New Roman" panose="02020603050405020304" pitchFamily="18" charset="0"/>
              <a:ea typeface="Prompt Medium" pitchFamily="34" charset="-122"/>
              <a:cs typeface="Times New Roman" panose="02020603050405020304" pitchFamily="18" charset="0"/>
            </a:endParaRPr>
          </a:p>
        </p:txBody>
      </p:sp>
      <p:sp>
        <p:nvSpPr>
          <p:cNvPr id="23" name="Text 17"/>
          <p:cNvSpPr/>
          <p:nvPr/>
        </p:nvSpPr>
        <p:spPr>
          <a:xfrm>
            <a:off x="6366470" y="5466160"/>
            <a:ext cx="4987429" cy="567532"/>
          </a:xfrm>
          <a:prstGeom prst="rect">
            <a:avLst/>
          </a:prstGeom>
          <a:noFill/>
        </p:spPr>
        <p:txBody>
          <a:bodyPr wrap="square" lIns="0" tIns="0" rIns="0" bIns="0" rtlCol="0" anchor="t"/>
          <a:lstStyle/>
          <a:p>
            <a:pPr>
              <a:lnSpc>
                <a:spcPts val="2210"/>
              </a:lnSpc>
            </a:pPr>
            <a:r>
              <a:rPr lang="en-US" dirty="0">
                <a:solidFill>
                  <a:schemeClr val="tx1"/>
                </a:solidFill>
                <a:latin typeface="Times New Roman" panose="02020603050405020304" pitchFamily="18" charset="0"/>
                <a:ea typeface="Mukta Light" pitchFamily="34" charset="-122"/>
                <a:cs typeface="Times New Roman" panose="02020603050405020304" pitchFamily="18" charset="0"/>
              </a:rPr>
              <a:t>Integration of biometric authentication for secure access and sensitive tasks.</a:t>
            </a:r>
            <a:endParaRPr lang="en-US" dirty="0">
              <a:solidFill>
                <a:schemeClr val="tx1"/>
              </a:solidFill>
              <a:latin typeface="Times New Roman" panose="02020603050405020304" pitchFamily="18" charset="0"/>
              <a:ea typeface="Mukta Light" pitchFamily="34"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Text Box 1"/>
          <p:cNvSpPr txBox="1"/>
          <p:nvPr/>
        </p:nvSpPr>
        <p:spPr>
          <a:xfrm>
            <a:off x="1012190" y="659130"/>
            <a:ext cx="10166350" cy="5539105"/>
          </a:xfrm>
          <a:prstGeom prst="rect">
            <a:avLst/>
          </a:prstGeom>
        </p:spPr>
        <p:txBody>
          <a:bodyPr wrap="square">
            <a:spAutoFit/>
          </a:bodyPr>
          <a:p>
            <a:pPr>
              <a:lnSpc>
                <a:spcPct val="150000"/>
              </a:lnSpc>
            </a:pPr>
            <a:r>
              <a:rPr sz="4000" b="1">
                <a:latin typeface="Times New Roman" panose="02020603050405020304" pitchFamily="18" charset="0"/>
                <a:cs typeface="Times New Roman" panose="02020603050405020304" pitchFamily="18" charset="0"/>
              </a:rPr>
              <a:t>CONCLUSION </a:t>
            </a:r>
            <a:endParaRPr sz="1600">
              <a:latin typeface="Times New Roman" panose="02020603050405020304" pitchFamily="18" charset="0"/>
              <a:cs typeface="Times New Roman" panose="02020603050405020304" pitchFamily="18" charset="0"/>
            </a:endParaRPr>
          </a:p>
          <a:p>
            <a:pPr algn="just">
              <a:lnSpc>
                <a:spcPct val="150000"/>
              </a:lnSpc>
            </a:pPr>
            <a:r>
              <a:rPr sz="2000">
                <a:latin typeface="Times New Roman" panose="02020603050405020304" pitchFamily="18" charset="0"/>
                <a:cs typeface="Times New Roman" panose="02020603050405020304" pitchFamily="18" charset="0"/>
              </a:rPr>
              <a:t>T</a:t>
            </a:r>
            <a:r>
              <a:rPr sz="1600">
                <a:latin typeface="Times New Roman" panose="02020603050405020304" pitchFamily="18" charset="0"/>
                <a:cs typeface="Times New Roman" panose="02020603050405020304" pitchFamily="18" charset="0"/>
              </a:rPr>
              <a:t>he Jarvis Portable AI Assistant represents a significant advancement in personal automation technology, aimed at improving the efficiency and accessibility of digital interactions. By integrating live data sources—such as the Gemini AI engine, real-time web searching, and system-level hooks—this project transforms a standard computer into an intelligent, voice-responsive ecosystem. It enables hands-free operation, minimizes the time spent on repetitive manual tasks, and provides a sophisticated "Iron Man" inspired user experience. This not only enhances user productivity but also demonstrates the power of combining local Python scripts with cloud-based intelligence. However, implementing such a sophisticated system comes with its own set of challenges. Real-time Speech-to-Text (STT) and high-level reasoning require stable internet connectivity for API calls and consistent computational resources for audio processing. The accuracy of Jarvis’s responses depends heavily on the quality of the microphone input and the clarity of the Large Language Model’s output. Additionally, the system must continuously adapt to dynamic environments, such as varying background noise levels or different hardware configurations on a guest host. Despite these limitations, the benefits of improved workflow, portability via USB, and personalized interaction make Jarvis a valuable tool for modern digital life.</a:t>
            </a:r>
            <a:endParaRPr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81081" y="2419386"/>
            <a:ext cx="7168598" cy="1446550"/>
          </a:xfrm>
          <a:prstGeom prst="rect">
            <a:avLst/>
          </a:prstGeom>
          <a:noFill/>
        </p:spPr>
        <p:txBody>
          <a:bodyPr wrap="square">
            <a:spAutoFit/>
          </a:bodyPr>
          <a:lstStyle/>
          <a:p>
            <a:r>
              <a:rPr lang="en-IN" sz="8800" dirty="0">
                <a:latin typeface="Forte" panose="03060902040502070203" pitchFamily="66" charset="0"/>
              </a:rPr>
              <a:t>THANK YOU</a:t>
            </a:r>
            <a:endParaRPr lang="en-IN" sz="8800" dirty="0">
              <a:latin typeface="Forte" panose="03060902040502070203" pitchFamily="66"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6F4F4D41-822D-40F2-A7AC-E4E6CB36CA7A}">
  <ds:schemaRefs/>
</ds:datastoreItem>
</file>

<file path=docProps/app.xml><?xml version="1.0" encoding="utf-8"?>
<Properties xmlns="http://schemas.openxmlformats.org/officeDocument/2006/extended-properties" xmlns:vt="http://schemas.openxmlformats.org/officeDocument/2006/docPropsVTypes">
  <TotalTime>0</TotalTime>
  <Words>10708</Words>
  <Application>WPS Presentation</Application>
  <PresentationFormat>Widescreen</PresentationFormat>
  <Paragraphs>408</Paragraphs>
  <Slides>22</Slides>
  <Notes>1</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22</vt:i4>
      </vt:variant>
    </vt:vector>
  </HeadingPairs>
  <TitlesOfParts>
    <vt:vector size="47" baseType="lpstr">
      <vt:lpstr>Arial</vt:lpstr>
      <vt:lpstr>SimSun</vt:lpstr>
      <vt:lpstr>Wingdings</vt:lpstr>
      <vt:lpstr>Times New Roman</vt:lpstr>
      <vt:lpstr>Agency FB</vt:lpstr>
      <vt:lpstr>Libre Franklin</vt:lpstr>
      <vt:lpstr>Segoe Print</vt:lpstr>
      <vt:lpstr>Arial</vt:lpstr>
      <vt:lpstr>Palatino Linotype</vt:lpstr>
      <vt:lpstr>Calibri</vt:lpstr>
      <vt:lpstr>Times New Roman</vt:lpstr>
      <vt:lpstr>Algerian</vt:lpstr>
      <vt:lpstr>Forte</vt:lpstr>
      <vt:lpstr>Microsoft YaHei</vt:lpstr>
      <vt:lpstr>Arial Unicode MS</vt:lpstr>
      <vt:lpstr>Aptos Display</vt:lpstr>
      <vt:lpstr>Segoe UI Variable Display</vt:lpstr>
      <vt:lpstr>Aptos</vt:lpstr>
      <vt:lpstr>Segoe UI</vt:lpstr>
      <vt:lpstr>Calibri</vt:lpstr>
      <vt:lpstr>Brygada 1918 Bold</vt:lpstr>
      <vt:lpstr>Prompt Medium</vt:lpstr>
      <vt:lpstr>Mukta Light</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boddu lavanya</dc:creator>
  <cp:lastModifiedBy>Thakursiddhi Prasad</cp:lastModifiedBy>
  <cp:revision>7</cp:revision>
  <dcterms:created xsi:type="dcterms:W3CDTF">2025-10-24T14:47:00Z</dcterms:created>
  <dcterms:modified xsi:type="dcterms:W3CDTF">2026-04-09T08:23:21Z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1033-12.1.0.25242</vt:lpwstr>
  </property>
  <property fmtid="{D5CDD505-2E9C-101B-9397-08002B2CF9AE}" pid="4" name="ICV">
    <vt:lpwstr>178C383F100B43C29E68FDF99AFBC2B7_12</vt:lpwstr>
  </property>
</Properties>
</file>